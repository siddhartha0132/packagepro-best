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PS-04 asks for dynamic tour packages. Today a package is a fixed bundle: you cannot swap parts, you cannot see the price of each part, and the local guide is a static dropdown with no availability check. Our job: make a package you can reshape, priced live, with guides that are checked day by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pillars: a curated start from the real PS-04 catalogue; live reshaping where the total is recomputed from the whole plan; the guide as a component with the mandatory availability check; and language plus channel choice. On top: an AI builder that only picks real catalogue packages, and budget fixes when the plan goes over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app and the Telegram bot both call the same trip engine, so pricing, the guide check and booking behave identically everywhere. The engine reads the organisers' PS-04 dataset read-only and writes the shared model's canonical tables. Money is integer paise; the total is rebuilt from the plan on every change; booking is one SQLite transaction with a write lock and an idempotency key. The AI never sets a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MVP line from the statement, and where it lives in the product. Everything is wired end to end in code — the listing, the fully customisable package, live repricing on every swap, the guide as a priced component, and the language preference. Both stretch goals are built too: the AI package builder and save/share with full multilingual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mandatory enhancement. Adding a guide checks every trip date against guide_availability and our own confirmed bookings. Meera speaks Tamil and specialises in heritage, but is unavailable on 28 September, so she is refused and the date is named. Arjun Nair — same language, same specialisation, free on all three days — is offered, and the total reprices live. The rule is enforced in the backend and proven by the hard-proof test; it is re-checked inside the booking transaction so a guide can't be double-booked.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'pnpm db:reset' before the demo so the demo guide's slots are free. Click 'Try the live demo', pick the cheapest flight, swap the hotel, open the guide planner and pick Meera Novak — refused on 28 September, Arjun offered with the new total. Confirm to get a booking reference and download the PDF. Then show the same refusal in the Telegram 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pnpm verify runs the type check, every test suite and the production build before every push. pnpm conformance merges our canonical rows with the PS-04 dataset and runs the organisers' validator — it prints PASS. Everything shown is backed by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Travellers get control and transparency in their own language. Guides are only booked when they are really free, and are matched on language and specialisation. Operators stop re-quoting by hand, never double-book a guide, and can upsell with upgrades that still fit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Revenue: a commission on each booked package, a marketplace fee on guide-days, a white-label licence for agencies, and margin on upgrades. Fill in the rates before presenting. Scaling: today one service with SQLite by design; next Postgres with the same canonical schema and a stateless engine; then a Telegram webhook, WhatsApp, UPI payments and GST; then more cities and partner inventory — the engine code does not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PS-04 · KOGNIVERA HACKATHON 2026 · TEAM RNG GODS · BMS COLLEGE OF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4F7FB"/>
                </a:solidFill>
                <a:latin typeface="Calibri"/>
              </a:rPr>
              <a:t>PackagePro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BFD0E6"/>
                </a:solidFill>
                <a:latin typeface="Calibri"/>
              </a:rPr>
              <a:t>Dynamic tour packages, priced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10944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59E5B"/>
                </a:solidFill>
                <a:latin typeface="Calibri"/>
              </a:rPr>
              <a:t>The problem  </a:t>
            </a:r>
            <a:r>
              <a:rPr sz="1800" b="0">
                <a:solidFill>
                  <a:srgbClr val="F4F7FB"/>
                </a:solidFill>
                <a:latin typeface="Calibri"/>
              </a:rPr>
              <a:t>Holiday packages are sold as fixed bundles. Travellers can't reshape them, can't see what each part costs, and a local guide is picked from a static list — with no check that the guide is actually free on the trip's 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2062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9E5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526280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4F7FB"/>
                </a:solidFill>
                <a:latin typeface="Calibri"/>
              </a:rPr>
              <a:t>Rigid bundles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983480"/>
            <a:ext cx="29666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BFD0E6"/>
                </a:solidFill>
                <a:latin typeface="Calibri"/>
              </a:rPr>
              <a:t>Changing the hotel, an activity or a transfer means calling an agent and waiting for a new quote.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402336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2538" y="42062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9E5B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4526280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4F7FB"/>
                </a:solidFill>
                <a:latin typeface="Calibri"/>
              </a:rPr>
              <a:t>Opaque pricing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BFD0E6"/>
                </a:solidFill>
                <a:latin typeface="Calibri"/>
              </a:rPr>
              <a:t>One lump sum. Nobody can see what each part costs or what a change would do to the total.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402336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2116" y="42062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9E5B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2116" y="4526280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4F7FB"/>
                </a:solidFill>
                <a:latin typeface="Calibri"/>
              </a:rPr>
              <a:t>Guides picked blind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2116" y="4983480"/>
            <a:ext cx="29666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BFD0E6"/>
                </a:solidFill>
                <a:latin typeface="Calibri"/>
              </a:rPr>
              <a:t>A guide can be sold for a day they are already booked, and language or specialisation is ignored.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6BCB"/>
                </a:solidFill>
                <a:latin typeface="Calibri"/>
              </a:rPr>
              <a:t>IDEA · 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1F3A"/>
                </a:solidFill>
                <a:latin typeface="Calibri"/>
              </a:rPr>
              <a:t>A package you can reshape — every change repriced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F4C63"/>
                </a:solidFill>
                <a:latin typeface="Calibri"/>
              </a:rPr>
              <a:t>Start from a curated package, reshape it piece by piece, add a local guide that is checked against real availability, and book it — on the web or in Telegram, in your language.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602153" cy="265176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40280"/>
            <a:ext cx="2602153" cy="82296"/>
          </a:xfrm>
          <a:prstGeom prst="rect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214495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Curated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14495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45 real PS-04 packages, browsed by theme and mood. Picks change with what you want: beaches, heritage, mountains.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9393" y="2240280"/>
            <a:ext cx="2602153" cy="265176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9393" y="2240280"/>
            <a:ext cx="2602153" cy="82296"/>
          </a:xfrm>
          <a:prstGeom prst="rect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2514600"/>
            <a:ext cx="214495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Reshape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7993" y="3200400"/>
            <a:ext cx="214495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Swap the hotel, activity or transfer, add extras, change the days. The total is rebuilt from the whole plan on every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2240280"/>
            <a:ext cx="2602153" cy="265176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147" y="2240280"/>
            <a:ext cx="2602153" cy="82296"/>
          </a:xfrm>
          <a:prstGeom prst="rect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8747" y="2514600"/>
            <a:ext cx="214495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Guides checked day by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747" y="3200400"/>
            <a:ext cx="214495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Pick by language, specialisation and price. A clash is refused with the date named; a matching substitute is offered and repriced.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0901" y="2240280"/>
            <a:ext cx="2602153" cy="265176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0901" y="2240280"/>
            <a:ext cx="2602153" cy="82296"/>
          </a:xfrm>
          <a:prstGeom prst="rect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501" y="2514600"/>
            <a:ext cx="214495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Your language, your 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501" y="3200400"/>
            <a:ext cx="214495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English, हिन्दी, தமிழ், తెలుగు. Web app, Telegram bot and a printable quotation, all on one engine.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8000"/>
            </a:avLst>
          </a:prstGeom>
          <a:solidFill>
            <a:srgbClr val="EAF2FD"/>
          </a:solidFill>
          <a:ln w="12700">
            <a:solidFill>
              <a:srgbClr val="C9D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5230368"/>
            <a:ext cx="1054577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6BCB"/>
                </a:solidFill>
                <a:latin typeface="Calibri"/>
              </a:rPr>
              <a:t>Plus  </a:t>
            </a:r>
            <a:r>
              <a:rPr sz="1400" b="0">
                <a:solidFill>
                  <a:srgbClr val="0B1F3A"/>
                </a:solidFill>
                <a:latin typeface="Calibri"/>
              </a:rPr>
              <a:t>AI package builder from free-text interests and booking history · priced budget fixes when a change goes over budget · recommended upgrades that still fit · undo and discard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6BCB"/>
                </a:solidFill>
                <a:latin typeface="Calibri"/>
              </a:rPr>
              <a:t>ARCHITECTURE · 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1F3A"/>
                </a:solidFill>
                <a:latin typeface="Calibri"/>
              </a:rPr>
              <a:t>One TypeScript service, two channels, one trip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423160" cy="2057400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2057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Web app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React 19 · Vite · Tailwind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Telegram bot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@wayypoint_Bot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26664" y="2487168"/>
            <a:ext cx="411480" cy="292608"/>
          </a:xfrm>
          <a:prstGeom prst="rightArrow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423160" cy="2057400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5564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212848"/>
            <a:ext cx="2057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tRPC + Zod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Node 22 · Express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Typed end to end,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inputs validated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2744" y="2487168"/>
            <a:ext cx="411480" cy="292608"/>
          </a:xfrm>
          <a:prstGeom prst="rightArrow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600200"/>
            <a:ext cx="2423160" cy="2057400"/>
          </a:xfrm>
          <a:prstGeom prst="roundRect">
            <a:avLst>
              <a:gd name="adj" fmla="val 8000"/>
            </a:avLst>
          </a:prstGeom>
          <a:solidFill>
            <a:srgbClr val="EAF2FD"/>
          </a:solidFill>
          <a:ln w="12700">
            <a:solidFill>
              <a:srgbClr val="9CC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5564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6BCB"/>
                </a:solidFill>
                <a:latin typeface="Calibri"/>
              </a:rPr>
              <a:t>Trip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12848"/>
            <a:ext cx="2057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Pricing in integer paise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Swaps · budget fixes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Guide check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Booking transaction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78824" y="2487168"/>
            <a:ext cx="411480" cy="292608"/>
          </a:xfrm>
          <a:prstGeom prst="rightArrow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0" y="1600200"/>
            <a:ext cx="2423160" cy="2057400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75564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1F3A"/>
                </a:solidFill>
                <a:latin typeface="Calibri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12848"/>
            <a:ext cx="2057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PS-04 dataset (read-only)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Canonical trips, itineraries,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items, bookings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+ app_* additions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437479" cy="1188720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05072"/>
            <a:ext cx="499856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AI — grounded, validated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0832"/>
            <a:ext cx="499856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F4C63"/>
                </a:solidFill>
                <a:latin typeface="Calibri"/>
              </a:rPr>
              <a:t>Sarvam sarvam-105b-conversations (OpenRouter fallback). Picks only real catalogue IDs; budget checked before and after the model; rule-based fallbacks.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3886200"/>
            <a:ext cx="5437479" cy="1188720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4175" y="4005072"/>
            <a:ext cx="499856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Integrations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4370832"/>
            <a:ext cx="499856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F4C63"/>
                </a:solidFill>
                <a:latin typeface="Calibri"/>
              </a:rPr>
              <a:t>SerpAPI Google Flights (live fares) · Sarvam mayura translation (cached) · Wikipedia photos · Railway deploy with a /data volume.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03520"/>
            <a:ext cx="3576218" cy="731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321045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4F7FB"/>
                </a:solidFill>
                <a:latin typeface="Calibri"/>
              </a:rPr>
              <a:t>One engine, two channels: a rule is enforced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7738" y="5303520"/>
            <a:ext cx="3576218" cy="731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0618" y="5303520"/>
            <a:ext cx="321045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4F7FB"/>
                </a:solidFill>
                <a:latin typeface="Calibri"/>
              </a:rPr>
              <a:t>Recompute, never accumulate: totals can't drift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6836" y="5303520"/>
            <a:ext cx="3576218" cy="731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9716" y="5303520"/>
            <a:ext cx="321045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4F7FB"/>
                </a:solidFill>
                <a:latin typeface="Calibri"/>
              </a:rPr>
              <a:t>BEGIN IMMEDIATE + idempotency key: no double booking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6BCB"/>
                </a:solidFill>
                <a:latin typeface="Calibri"/>
              </a:rPr>
              <a:t>EXPECTED MVP — 24-HOUR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1F3A"/>
                </a:solidFill>
                <a:latin typeface="Calibri"/>
              </a:rPr>
              <a:t>Every MVP item, built and wired end to end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1672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056632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F7FB"/>
                          </a:solidFill>
                          <a:latin typeface="Calibri"/>
                        </a:rPr>
                        <a:t>PS-04 expects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F7FB"/>
                          </a:solidFill>
                          <a:latin typeface="Calibri"/>
                        </a:rPr>
                        <a:t>What PackagePro does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F7F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Package listing + ONE fully customisable package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45 curated packages by theme; any one opens fully customisable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MVP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Swap hotel tier / activity / transfer / guide → itinerary and total update live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Same day and slot kept; total rebuilt from the whole plan in paise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MVP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Guide as a component: language + specialisation + price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Guide planner grid; day rate × date multiplier added to the total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MVP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Language preference changes packages, guides or content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Profile sets app + guide language; guides filtered; 4 app languages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MVP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AI package-builder from free-text interests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Sarvam; interests + booking history; real catalogue IDs only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Stretch</a:t>
                      </a:r>
                    </a:p>
                  </a:txBody>
                  <a:tcPr anchor="ctr">
                    <a:solidFill>
                      <a:srgbClr val="FBFC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F3A"/>
                          </a:solidFill>
                          <a:latin typeface="Calibri"/>
                        </a:rPr>
                        <a:t>Save / share; full multilingual content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4C63"/>
                          </a:solidFill>
                          <a:latin typeface="Calibri"/>
                        </a:rPr>
                        <a:t>Drafts, share links, PDF quotation, Telegram; 4-language copy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E8A5F"/>
                          </a:solidFill>
                          <a:latin typeface="Calibri"/>
                        </a:rPr>
                        <a:t>Built · Stretch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F4C63"/>
                </a:solidFill>
                <a:latin typeface="Calibri"/>
              </a:rPr>
              <a:t>Boundary rules enforced in the backend with tests: group size (min–max), BCP-47 languages, INR only, guide capacity, idempotent booking.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MANDATORY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7FB"/>
                </a:solidFill>
                <a:latin typeface="Calibri"/>
              </a:rPr>
              <a:t>Guide Availability Check — never a static dropdown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8191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4F7FB"/>
                </a:solidFill>
                <a:latin typeface="Calibri"/>
              </a:rPr>
              <a:t>Add a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01952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to a package with real trip dates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5059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4F7FB"/>
                </a:solidFill>
                <a:latin typeface="Calibri"/>
              </a:rPr>
              <a:t>Check every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70632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is_available = 1 and slots_available − confirmed bookings &gt; 0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1927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4F7FB"/>
                </a:solidFill>
                <a:latin typeface="Calibri"/>
              </a:rPr>
              <a:t>Refuse on a clash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9312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the clashing date is named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8795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4F7FB"/>
                </a:solidFill>
                <a:latin typeface="Calibri"/>
              </a:rPr>
              <a:t>Offer the nearest substitute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07992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same language + specialisation, free on every date, nearest (≤ 400 km), then smallest price change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5663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4F7FB"/>
                </a:solidFill>
                <a:latin typeface="Calibri"/>
              </a:rPr>
              <a:t>Reprice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76672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price delta applied to the total; re-checked inside the booking transaction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5727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WHAT THE JUDGES SEE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1920240"/>
            <a:ext cx="4965192" cy="1325880"/>
          </a:xfrm>
          <a:prstGeom prst="roundRect">
            <a:avLst>
              <a:gd name="adj" fmla="val 8000"/>
            </a:avLst>
          </a:prstGeom>
          <a:solidFill>
            <a:srgbClr val="FFF4F1"/>
          </a:solidFill>
          <a:ln w="12700">
            <a:solidFill>
              <a:srgbClr val="F3C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2084831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D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084831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B42318"/>
                </a:solidFill>
                <a:latin typeface="Calibri"/>
              </a:rPr>
              <a:t>REFUSED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468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Meera Novak · Tamil · heritage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8346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42318"/>
                </a:solidFill>
                <a:latin typeface="Calibri"/>
              </a:rPr>
              <a:t>Unavailable on 28 Sep 2026 — the date is named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8961120" y="3337560"/>
            <a:ext cx="365760" cy="411480"/>
          </a:xfrm>
          <a:prstGeom prst="downArrow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3840480"/>
            <a:ext cx="4965192" cy="1600200"/>
          </a:xfrm>
          <a:prstGeom prst="roundRect">
            <a:avLst>
              <a:gd name="adj" fmla="val 8000"/>
            </a:avLst>
          </a:prstGeom>
          <a:solidFill>
            <a:srgbClr val="E9F7F0"/>
          </a:solidFill>
          <a:ln w="12700">
            <a:solidFill>
              <a:srgbClr val="B7E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03720" y="400507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E8A5F"/>
                </a:solidFill>
                <a:latin typeface="Calibri"/>
              </a:rPr>
              <a:t>SUBSTITUTE OFFERED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389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Arjun Nair · Tamil · heritage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75488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E8A5F"/>
                </a:solidFill>
                <a:latin typeface="Calibri"/>
              </a:rPr>
              <a:t>Same language and specialisation · free on all 3 days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E8A5F"/>
                </a:solidFill>
                <a:latin typeface="Calibri"/>
              </a:rPr>
              <a:t>Price delta applied · total repriced live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623560"/>
            <a:ext cx="4965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FD0E6"/>
                </a:solidFill>
                <a:latin typeface="Calibri"/>
              </a:rPr>
              <a:t>Proof: tests/hardProof.guideAvailability.test.ts — same rule on web and Telegram, and day-by-day guide plans.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6BCB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1F3A"/>
                </a:solidFill>
                <a:latin typeface="Calibri"/>
              </a:rPr>
              <a:t>From search to booked trip in six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87451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Try the 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Delhi → Thanjavur, 4 travellers, Tamil guide, ₹1,50,000 — live estimate: low · typical · high.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6818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898" y="187451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Pick a live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2316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Google Flights fares via SerpAPI; the package loads with its itinerary.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6396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6476" y="187451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Customise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6396" y="242316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Swap the hotel or an activity, add an extra, change the days — the total updates on every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49039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3977639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9776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402335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Add a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Meera Novak is refused on 28 Sep; Arjun Nair is offered with the new total.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8218" y="3749039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66818" y="3977639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66818" y="39776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6898" y="402335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Stay in budget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6818" y="457200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Over budget? Priced fixes, or 'fit my budget automatically' in one tap.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7796" y="3749039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56396" y="3977639"/>
            <a:ext cx="457200" cy="457200"/>
          </a:xfrm>
          <a:prstGeom prst="ellipse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6396" y="39776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4F7FB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6476" y="4023359"/>
            <a:ext cx="241797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1F3A"/>
                </a:solidFill>
                <a:latin typeface="Calibri"/>
              </a:rPr>
              <a:t>Confirm &amp; share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6396" y="4572000"/>
            <a:ext cx="30580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F4C63"/>
                </a:solidFill>
                <a:latin typeface="Calibri"/>
              </a:rPr>
              <a:t>Booking reference, PDF quotation in 4 languages — and the same flow in Telegram.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6BCB"/>
                </a:solidFill>
                <a:latin typeface="Calibri"/>
              </a:rPr>
              <a:t>Try it  </a:t>
            </a:r>
            <a:r>
              <a:rPr sz="1300" b="0">
                <a:solidFill>
                  <a:srgbClr val="0B1F3A"/>
                </a:solidFill>
                <a:latin typeface="Calibri"/>
              </a:rPr>
              <a:t>[live URL] · /how-it-works guided tour · Telegram @wayypoint_Bot → /demo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6BC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7FB"/>
                </a:solidFill>
                <a:latin typeface="Calibri"/>
              </a:rPr>
              <a:t>Backed by code, tests and the validator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02153" cy="3291840"/>
          </a:xfrm>
          <a:prstGeom prst="roundRect">
            <a:avLst>
              <a:gd name="adj" fmla="val 8000"/>
            </a:avLst>
          </a:prstGeom>
          <a:solidFill>
            <a:srgbClr val="0A5AAD"/>
          </a:solidFill>
          <a:ln w="12700">
            <a:solidFill>
              <a:srgbClr val="3C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1449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7FB"/>
                </a:solidFill>
                <a:latin typeface="Calibri"/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214495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E3CC"/>
                </a:solidFill>
                <a:latin typeface="Calibri"/>
              </a:rP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214495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E3EEFB"/>
                </a:solidFill>
                <a:latin typeface="Calibri"/>
              </a:rPr>
              <a:t>including the hard-proof guide test, concurrency and idempotent booking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737360"/>
            <a:ext cx="2602153" cy="3291840"/>
          </a:xfrm>
          <a:prstGeom prst="roundRect">
            <a:avLst>
              <a:gd name="adj" fmla="val 8000"/>
            </a:avLst>
          </a:prstGeom>
          <a:solidFill>
            <a:srgbClr val="0A5AAD"/>
          </a:solidFill>
          <a:ln w="12700">
            <a:solidFill>
              <a:srgbClr val="3C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7993" y="1965960"/>
            <a:ext cx="21449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7FB"/>
                </a:solidFill>
                <a:latin typeface="Calibri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2971800"/>
            <a:ext cx="214495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E3CC"/>
                </a:solidFill>
                <a:latin typeface="Calibri"/>
              </a:rPr>
              <a:t>organisers' validator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993" y="3429000"/>
            <a:ext cx="214495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E3EEFB"/>
                </a:solidFill>
                <a:latin typeface="Calibri"/>
              </a:rPr>
              <a:t>our canonical rows merged with PS-04 pass validate_conformance.py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737360"/>
            <a:ext cx="2602153" cy="3291840"/>
          </a:xfrm>
          <a:prstGeom prst="roundRect">
            <a:avLst>
              <a:gd name="adj" fmla="val 8000"/>
            </a:avLst>
          </a:prstGeom>
          <a:solidFill>
            <a:srgbClr val="0A5AAD"/>
          </a:solidFill>
          <a:ln w="12700">
            <a:solidFill>
              <a:srgbClr val="3C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1965960"/>
            <a:ext cx="21449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7FB"/>
                </a:solidFill>
                <a:latin typeface="Calibri"/>
              </a:rP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2971800"/>
            <a:ext cx="214495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E3CC"/>
                </a:solidFill>
                <a:latin typeface="Calibri"/>
              </a:rPr>
              <a:t>bookable guides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3429000"/>
            <a:ext cx="214495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E3EEFB"/>
                </a:solidFill>
                <a:latin typeface="Calibri"/>
              </a:rPr>
              <a:t>each with a 30-day calendar; plus 45 packages and 1,200 traveller profiles from PS-04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0901" y="1737360"/>
            <a:ext cx="2602153" cy="3291840"/>
          </a:xfrm>
          <a:prstGeom prst="roundRect">
            <a:avLst>
              <a:gd name="adj" fmla="val 8000"/>
            </a:avLst>
          </a:prstGeom>
          <a:solidFill>
            <a:srgbClr val="0A5AAD"/>
          </a:solidFill>
          <a:ln w="12700">
            <a:solidFill>
              <a:srgbClr val="3C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9501" y="1965960"/>
            <a:ext cx="21449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7FB"/>
                </a:solidFill>
                <a:latin typeface="Calibri"/>
              </a:rPr>
              <a:t>4 ·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9501" y="2971800"/>
            <a:ext cx="214495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E3CC"/>
                </a:solidFill>
                <a:latin typeface="Calibri"/>
              </a:rPr>
              <a:t>languages · channels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9501" y="3429000"/>
            <a:ext cx="214495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E3EEFB"/>
                </a:solidFill>
                <a:latin typeface="Calibri"/>
              </a:rPr>
              <a:t>English, Hindi, Tamil, Telugu on web and Telegram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4F7FB"/>
                </a:solidFill>
                <a:latin typeface="Calibri"/>
              </a:rPr>
              <a:t>Boundary rules live in the backend: group size, BCP-47 languages, INR only, guide capacity. Money is integer paise; itinerary lines add up to the total to the paisa.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6BCB"/>
                </a:solidFill>
                <a:latin typeface="Calibri"/>
              </a:rPr>
              <a:t>IMPACT &amp;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1F3A"/>
                </a:solidFill>
                <a:latin typeface="Calibri"/>
              </a:rPr>
              <a:t>Better for travellers, guides and tour operators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15258" cy="420624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0B6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B1F3A"/>
                </a:solidFill>
                <a:latin typeface="Calibri"/>
              </a:rPr>
              <a:t>Travellers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296661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B6BCB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Build the trip they want, in their language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B6BCB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See every line of the price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B6BCB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Never booked with a guide who isn't free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B6BCB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Stay in budget with one-tap fixes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600200"/>
            <a:ext cx="3515258" cy="420624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1874519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B1F3A"/>
                </a:solidFill>
                <a:latin typeface="Calibri"/>
              </a:rPr>
              <a:t>Local guides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514600"/>
            <a:ext cx="296661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C2410C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Bookings respect real availability and slots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C2410C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Matched on language and specialisation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C2410C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Nearby guides get offered as substitutes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C2410C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Paid per day at each date's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600200"/>
            <a:ext cx="3515258" cy="420624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1270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E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2116" y="1874519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B1F3A"/>
                </a:solidFill>
                <a:latin typeface="Calibri"/>
              </a:rPr>
              <a:t>Tour operators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2514600"/>
            <a:ext cx="296661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E8A5F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Fewer manual re-quotes and call-backs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E8A5F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No double-booked guides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E8A5F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Upsell with upgrades that still fit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0E8A5F"/>
                </a:solidFill>
                <a:latin typeface="Calibri"/>
              </a:rPr>
              <a:t>•  </a:t>
            </a:r>
            <a:r>
              <a:rPr sz="1500" b="0">
                <a:solidFill>
                  <a:srgbClr val="3F4C63"/>
                </a:solidFill>
                <a:latin typeface="Calibri"/>
              </a:rPr>
              <a:t>One engine for web and chat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A7689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BUSINESS MODEL &amp;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7FB"/>
                </a:solidFill>
                <a:latin typeface="Calibri"/>
              </a:rPr>
              <a:t>How PackagePro earns — and grows beyond one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REVENUE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394960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4F7FB"/>
                </a:solidFill>
                <a:latin typeface="Calibri"/>
              </a:rPr>
              <a:t>Booking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[__%] of each confirmed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98648"/>
            <a:ext cx="5394960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9008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4F7FB"/>
                </a:solidFill>
                <a:latin typeface="Calibri"/>
              </a:rPr>
              <a:t>Guide marketplace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284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[__%] per guide-day booked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1335"/>
            <a:ext cx="5394960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2277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4F7FB"/>
                </a:solidFill>
                <a:latin typeface="Calibri"/>
              </a:rPr>
              <a:t>White-label for agencies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6110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[₹__ / month] per agency, their brand and catalogue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64024"/>
            <a:ext cx="5394960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554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4F7FB"/>
                </a:solidFill>
                <a:latin typeface="Calibri"/>
              </a:rPr>
              <a:t>Upgrades &amp; add-ons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9379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FD0E6"/>
                </a:solidFill>
                <a:latin typeface="Calibri"/>
              </a:rPr>
              <a:t>margin on recommended upgrades that fit the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6002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5B"/>
                </a:solidFill>
                <a:latin typeface="Calibri"/>
              </a:rPr>
              <a:t>SCALING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965960"/>
            <a:ext cx="1097280" cy="804672"/>
          </a:xfrm>
          <a:prstGeom prst="roundRect">
            <a:avLst>
              <a:gd name="adj" fmla="val 8000"/>
            </a:avLst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65960"/>
            <a:ext cx="109728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Calibri"/>
              </a:rPr>
              <a:t>Today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965960"/>
            <a:ext cx="3962095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1965960"/>
            <a:ext cx="359633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4F7FB"/>
                </a:solidFill>
                <a:latin typeface="Calibri"/>
              </a:rPr>
              <a:t>One Railway service, SQLite, canonical tables, Telegram polling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898648"/>
            <a:ext cx="1097280" cy="804672"/>
          </a:xfrm>
          <a:prstGeom prst="roundRect">
            <a:avLst>
              <a:gd name="adj" fmla="val 8000"/>
            </a:avLst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898648"/>
            <a:ext cx="109728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Calibri"/>
              </a:rPr>
              <a:t>Next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2898648"/>
            <a:ext cx="3962095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898648"/>
            <a:ext cx="359633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4F7FB"/>
                </a:solidFill>
                <a:latin typeface="Calibri"/>
              </a:rPr>
              <a:t>Postgres with the same schema; stateless engine on several instances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831335"/>
            <a:ext cx="1097280" cy="804672"/>
          </a:xfrm>
          <a:prstGeom prst="roundRect">
            <a:avLst>
              <a:gd name="adj" fmla="val 8000"/>
            </a:avLst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31335"/>
            <a:ext cx="109728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Calibri"/>
              </a:rPr>
              <a:t>Then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3831335"/>
            <a:ext cx="3962095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3831335"/>
            <a:ext cx="359633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4F7FB"/>
                </a:solidFill>
                <a:latin typeface="Calibri"/>
              </a:rPr>
              <a:t>Telegram webhook + WhatsApp; UPI payments and GST on the quotation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764024"/>
            <a:ext cx="1097280" cy="804672"/>
          </a:xfrm>
          <a:prstGeom prst="roundRect">
            <a:avLst>
              <a:gd name="adj" fmla="val 8000"/>
            </a:avLst>
          </a:prstGeom>
          <a:solidFill>
            <a:srgbClr val="F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764024"/>
            <a:ext cx="109728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Calibri"/>
              </a:rPr>
              <a:t>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4764024"/>
            <a:ext cx="3962095" cy="804672"/>
          </a:xfrm>
          <a:prstGeom prst="roundRect">
            <a:avLst>
              <a:gd name="adj" fmla="val 8000"/>
            </a:avLst>
          </a:prstGeom>
          <a:solidFill>
            <a:srgbClr val="13294A"/>
          </a:solidFill>
          <a:ln w="12700">
            <a:solidFill>
              <a:srgbClr val="22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4764024"/>
            <a:ext cx="359633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4F7FB"/>
                </a:solidFill>
                <a:latin typeface="Calibri"/>
              </a:rPr>
              <a:t>More cities, guides and partner inventory through the same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4F7FB"/>
                </a:solidFill>
                <a:latin typeface="Calibri"/>
              </a:rPr>
              <a:t>Thank you — questions?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PackagePro · PS-04 Dynamic Tour Packages · Team RNG Gods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FD0E6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