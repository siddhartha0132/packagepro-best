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PS-04 asks for dynamic tour packages. Today a package is a fixed bundle: you cannot swap parts, you cannot see the price of each part, and the local guide is a static dropdown with no availability check. Our job: a package you can reshape, priced live, with guides that are checked day by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pillars: a curated start from the real PS-04 catalogue; live reshaping where the total is recomputed from the whole plan; the guide as a component with the mandatory availability check; and language plus channel choice. The screenshot is the running app: choosing a mood moves the destination, the hero photo and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 app and the Telegram bot both call the same trip engine, so pricing, the guide check and booking behave identically everywhere. The engine reads the organisers' PS-04 dataset read-only and writes the shared model's canonical tables. Money is integer paise; the total is rebuilt from the plan on every change; booking is one SQLite transaction with a write lock and an idempotency key. The AI never sets a price.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MVP line from the statement, and where it lives in the product. Everything is wired end to end in code — the listing, the fully customisable package, live repricing on every swap, the guide as a priced component, and the language preference. Both stretch goals are built too: the AI package builder and save/share with full multilingual content.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mandatory enhancement, shown on the live screen. Adding a guide checks every trip date against guide_availability and our own confirmed bookings. Meera speaks Tamil and specialises in heritage, but is unavailable on 28 September — refused, date named. Arjun Nair, same language and specialisation, free on all three days, is offered at minus 11,160 rupees with the new total. The traveller can also book Meera only on her two free days. The rule is enforced in the backend, proven by the hard-proof test, and re-checked inside the booking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Customisation on the live screen. Opening a swap shows the current choice and every alternative, cheapest first, each priced on the whole trip with whether it still fits the budget. A swap keeps its place in the day. The strip on the right always recommends something useful — upgrades that fit, or fixes when over budget — and Undo or Discard takes you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change breaks the budget we do not just say no. The engine re-prices every cheaper option on the whole plan. 'Fit my budget automatically' finds the fewest changes that fit — in this real screen, a cheaper stay and activity bring 21,354 rupees down to 15,772 on a 16,000 budget. If nothing can fit, the page says the honest minimum and sets it in one tap. The Telegram bot shows the same fixes as buttons.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'pnpm db:reset' before the demo so the demo guide's slots are free. Click 'Try the live demo', pick the cheapest flight, swap the hotel, open the guide planner and pick Meera Novak — refused on 28 September, Arjun offered with the new total. Confirm to get a booking reference and download the PDF. Then show the same refusal in the Telegram bot. The code, this deck and the demo video are linked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pnpm verify runs the type check, every test suite and the production build before every push. pnpm conformance merges our canonical rows with the PS-04 dataset and runs the organisers' validator — it prints PASS. Everything shown is backed by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Travellers get control and transparency in their own language. Guides are only booked when they are really free, and are matched on language and specialisation. Operators stop re-quoting by hand, never double-book a guide, and can upsell with upgrades that still fit the budget.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a commission on each booked package, a marketplace fee on guide-days, a white-label licence for agencies, and margin on upgrades. Fill in the rates before presenting. Scaling: today one service with SQLite by design; next Postgres with the same canonical schema and a stateless engine; then a Telegram webhook, WhatsApp, UPI payments and GST; then more cities and partner inventory — the engine code does not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ognivera-org/kv-hack2026-rng-gods" TargetMode="External"/><Relationship Id="rId3" Type="http://schemas.openxmlformats.org/officeDocument/2006/relationships/hyperlink" Target="https://drive.google.com/drive/folders/1zgK5YVOSWnMJXxgNuztlIm2UHNh-FStq?usp=share_link" TargetMode="External"/><Relationship Id="rId4" Type="http://schemas.openxmlformats.org/officeDocument/2006/relationships/hyperlink" Target="https://t.me/wayypoint_Bot" TargetMode="Externa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ognivera-org/kv-hack2026-rng-gods" TargetMode="External"/><Relationship Id="rId3" Type="http://schemas.openxmlformats.org/officeDocument/2006/relationships/hyperlink" Target="https://drive.google.com/drive/folders/1zgK5YVOSWnMJXxgNuztlIm2UHNh-FStq?usp=share_link" TargetMode="External"/><Relationship Id="rId4" Type="http://schemas.openxmlformats.org/officeDocument/2006/relationships/hyperlink" Target="https://t.me/wayypoint_Bot" TargetMode="External"/><Relationship Id="rId5"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502920"/>
            <a:ext cx="10058400" cy="27432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PS-04 · KOGNIVERA HACKATHON 2026 · TEAM RNG GODS · BMS COLLEGE OF ENGINEERING</a:t>
            </a:r>
          </a:p>
        </p:txBody>
      </p:sp>
      <p:sp>
        <p:nvSpPr>
          <p:cNvPr id="3" name="TextBox 2"/>
          <p:cNvSpPr txBox="1"/>
          <p:nvPr/>
        </p:nvSpPr>
        <p:spPr>
          <a:xfrm>
            <a:off x="548640" y="868680"/>
            <a:ext cx="10058400" cy="1097280"/>
          </a:xfrm>
          <a:prstGeom prst="rect">
            <a:avLst/>
          </a:prstGeom>
          <a:noFill/>
        </p:spPr>
        <p:txBody>
          <a:bodyPr wrap="square" anchor="t" lIns="0" rIns="0" tIns="0" bIns="0">
            <a:spAutoFit/>
          </a:bodyPr>
          <a:lstStyle/>
          <a:p>
            <a:pPr algn="l">
              <a:lnSpc>
                <a:spcPct val="115000"/>
              </a:lnSpc>
            </a:pPr>
            <a:r>
              <a:rPr sz="6000" b="1">
                <a:solidFill>
                  <a:srgbClr val="F4F7FB"/>
                </a:solidFill>
                <a:latin typeface="Calibri"/>
              </a:rPr>
              <a:t>PackagePro</a:t>
            </a:r>
          </a:p>
        </p:txBody>
      </p:sp>
      <p:sp>
        <p:nvSpPr>
          <p:cNvPr id="4" name="TextBox 3"/>
          <p:cNvSpPr txBox="1"/>
          <p:nvPr/>
        </p:nvSpPr>
        <p:spPr>
          <a:xfrm>
            <a:off x="548640" y="1828800"/>
            <a:ext cx="10058400" cy="457200"/>
          </a:xfrm>
          <a:prstGeom prst="rect">
            <a:avLst/>
          </a:prstGeom>
          <a:noFill/>
        </p:spPr>
        <p:txBody>
          <a:bodyPr wrap="square" anchor="t" lIns="0" rIns="0" tIns="0" bIns="0">
            <a:spAutoFit/>
          </a:bodyPr>
          <a:lstStyle/>
          <a:p>
            <a:pPr algn="l">
              <a:lnSpc>
                <a:spcPct val="115000"/>
              </a:lnSpc>
            </a:pPr>
            <a:r>
              <a:rPr sz="2400" b="0">
                <a:solidFill>
                  <a:srgbClr val="BFD0E6"/>
                </a:solidFill>
                <a:latin typeface="Calibri"/>
              </a:rPr>
              <a:t>Dynamic tour packages, priced live</a:t>
            </a:r>
          </a:p>
        </p:txBody>
      </p:sp>
      <p:sp>
        <p:nvSpPr>
          <p:cNvPr id="5" name="TextBox 4"/>
          <p:cNvSpPr txBox="1"/>
          <p:nvPr/>
        </p:nvSpPr>
        <p:spPr>
          <a:xfrm>
            <a:off x="548640" y="2560320"/>
            <a:ext cx="11094415" cy="1234440"/>
          </a:xfrm>
          <a:prstGeom prst="rect">
            <a:avLst/>
          </a:prstGeom>
          <a:noFill/>
        </p:spPr>
        <p:txBody>
          <a:bodyPr wrap="square" anchor="t" lIns="0" rIns="0" tIns="0" bIns="0">
            <a:spAutoFit/>
          </a:bodyPr>
          <a:lstStyle/>
          <a:p>
            <a:pPr algn="l">
              <a:lnSpc>
                <a:spcPct val="125000"/>
              </a:lnSpc>
            </a:pPr>
            <a:r>
              <a:rPr sz="1800" b="1">
                <a:solidFill>
                  <a:srgbClr val="F59E5B"/>
                </a:solidFill>
                <a:latin typeface="Calibri"/>
              </a:rPr>
              <a:t>The problem  </a:t>
            </a:r>
            <a:r>
              <a:rPr sz="1800" b="0">
                <a:solidFill>
                  <a:srgbClr val="F4F7FB"/>
                </a:solidFill>
                <a:latin typeface="Calibri"/>
              </a:rPr>
              <a:t>Holiday packages are sold as fixed bundles. Travellers can't reshape them, can't see what each part costs, and a local guide is picked from a static list — with no check that the guide is actually free on the trip's dates.</a:t>
            </a:r>
          </a:p>
        </p:txBody>
      </p:sp>
      <p:sp>
        <p:nvSpPr>
          <p:cNvPr id="6" name="Rounded Rectangle 5"/>
          <p:cNvSpPr/>
          <p:nvPr/>
        </p:nvSpPr>
        <p:spPr>
          <a:xfrm>
            <a:off x="548640" y="4023360"/>
            <a:ext cx="3515258" cy="2011680"/>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4206240"/>
            <a:ext cx="2966618" cy="365760"/>
          </a:xfrm>
          <a:prstGeom prst="rect">
            <a:avLst/>
          </a:prstGeom>
          <a:noFill/>
        </p:spPr>
        <p:txBody>
          <a:bodyPr wrap="square" anchor="t" lIns="0" rIns="0" tIns="0" bIns="0">
            <a:spAutoFit/>
          </a:bodyPr>
          <a:lstStyle/>
          <a:p>
            <a:pPr algn="l">
              <a:lnSpc>
                <a:spcPct val="115000"/>
              </a:lnSpc>
            </a:pPr>
            <a:r>
              <a:rPr sz="1400" b="1">
                <a:solidFill>
                  <a:srgbClr val="F59E5B"/>
                </a:solidFill>
                <a:latin typeface="Calibri"/>
              </a:rPr>
              <a:t>01</a:t>
            </a:r>
          </a:p>
        </p:txBody>
      </p:sp>
      <p:sp>
        <p:nvSpPr>
          <p:cNvPr id="8" name="TextBox 7"/>
          <p:cNvSpPr txBox="1"/>
          <p:nvPr/>
        </p:nvSpPr>
        <p:spPr>
          <a:xfrm>
            <a:off x="822959" y="4526280"/>
            <a:ext cx="2966618" cy="411480"/>
          </a:xfrm>
          <a:prstGeom prst="rect">
            <a:avLst/>
          </a:prstGeom>
          <a:noFill/>
        </p:spPr>
        <p:txBody>
          <a:bodyPr wrap="square" anchor="t" lIns="0" rIns="0" tIns="0" bIns="0">
            <a:spAutoFit/>
          </a:bodyPr>
          <a:lstStyle/>
          <a:p>
            <a:pPr algn="l">
              <a:lnSpc>
                <a:spcPct val="115000"/>
              </a:lnSpc>
            </a:pPr>
            <a:r>
              <a:rPr sz="2000" b="1">
                <a:solidFill>
                  <a:srgbClr val="F4F7FB"/>
                </a:solidFill>
                <a:latin typeface="Calibri"/>
              </a:rPr>
              <a:t>Rigid bundles</a:t>
            </a:r>
          </a:p>
        </p:txBody>
      </p:sp>
      <p:sp>
        <p:nvSpPr>
          <p:cNvPr id="9" name="TextBox 8"/>
          <p:cNvSpPr txBox="1"/>
          <p:nvPr/>
        </p:nvSpPr>
        <p:spPr>
          <a:xfrm>
            <a:off x="822959" y="4983480"/>
            <a:ext cx="2966618" cy="1005840"/>
          </a:xfrm>
          <a:prstGeom prst="rect">
            <a:avLst/>
          </a:prstGeom>
          <a:noFill/>
        </p:spPr>
        <p:txBody>
          <a:bodyPr wrap="square" anchor="t" lIns="0" rIns="0" tIns="0" bIns="0">
            <a:spAutoFit/>
          </a:bodyPr>
          <a:lstStyle/>
          <a:p>
            <a:pPr algn="l">
              <a:lnSpc>
                <a:spcPct val="120000"/>
              </a:lnSpc>
            </a:pPr>
            <a:r>
              <a:rPr sz="1400" b="0">
                <a:solidFill>
                  <a:srgbClr val="BFD0E6"/>
                </a:solidFill>
                <a:latin typeface="Calibri"/>
              </a:rPr>
              <a:t>Changing the hotel, an activity or a transfer means calling an agent and waiting for a new quote.</a:t>
            </a:r>
          </a:p>
        </p:txBody>
      </p:sp>
      <p:sp>
        <p:nvSpPr>
          <p:cNvPr id="10" name="Rounded Rectangle 9"/>
          <p:cNvSpPr/>
          <p:nvPr/>
        </p:nvSpPr>
        <p:spPr>
          <a:xfrm>
            <a:off x="4338218" y="4023360"/>
            <a:ext cx="3515258" cy="2011680"/>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2538" y="4206240"/>
            <a:ext cx="2966618" cy="365760"/>
          </a:xfrm>
          <a:prstGeom prst="rect">
            <a:avLst/>
          </a:prstGeom>
          <a:noFill/>
        </p:spPr>
        <p:txBody>
          <a:bodyPr wrap="square" anchor="t" lIns="0" rIns="0" tIns="0" bIns="0">
            <a:spAutoFit/>
          </a:bodyPr>
          <a:lstStyle/>
          <a:p>
            <a:pPr algn="l">
              <a:lnSpc>
                <a:spcPct val="115000"/>
              </a:lnSpc>
            </a:pPr>
            <a:r>
              <a:rPr sz="1400" b="1">
                <a:solidFill>
                  <a:srgbClr val="F59E5B"/>
                </a:solidFill>
                <a:latin typeface="Calibri"/>
              </a:rPr>
              <a:t>02</a:t>
            </a:r>
          </a:p>
        </p:txBody>
      </p:sp>
      <p:sp>
        <p:nvSpPr>
          <p:cNvPr id="12" name="TextBox 11"/>
          <p:cNvSpPr txBox="1"/>
          <p:nvPr/>
        </p:nvSpPr>
        <p:spPr>
          <a:xfrm>
            <a:off x="4612538" y="4526280"/>
            <a:ext cx="2966618" cy="411480"/>
          </a:xfrm>
          <a:prstGeom prst="rect">
            <a:avLst/>
          </a:prstGeom>
          <a:noFill/>
        </p:spPr>
        <p:txBody>
          <a:bodyPr wrap="square" anchor="t" lIns="0" rIns="0" tIns="0" bIns="0">
            <a:spAutoFit/>
          </a:bodyPr>
          <a:lstStyle/>
          <a:p>
            <a:pPr algn="l">
              <a:lnSpc>
                <a:spcPct val="115000"/>
              </a:lnSpc>
            </a:pPr>
            <a:r>
              <a:rPr sz="2000" b="1">
                <a:solidFill>
                  <a:srgbClr val="F4F7FB"/>
                </a:solidFill>
                <a:latin typeface="Calibri"/>
              </a:rPr>
              <a:t>Opaque pricing</a:t>
            </a:r>
          </a:p>
        </p:txBody>
      </p:sp>
      <p:sp>
        <p:nvSpPr>
          <p:cNvPr id="13" name="TextBox 12"/>
          <p:cNvSpPr txBox="1"/>
          <p:nvPr/>
        </p:nvSpPr>
        <p:spPr>
          <a:xfrm>
            <a:off x="4612538" y="4983480"/>
            <a:ext cx="2966618" cy="1005840"/>
          </a:xfrm>
          <a:prstGeom prst="rect">
            <a:avLst/>
          </a:prstGeom>
          <a:noFill/>
        </p:spPr>
        <p:txBody>
          <a:bodyPr wrap="square" anchor="t" lIns="0" rIns="0" tIns="0" bIns="0">
            <a:spAutoFit/>
          </a:bodyPr>
          <a:lstStyle/>
          <a:p>
            <a:pPr algn="l">
              <a:lnSpc>
                <a:spcPct val="120000"/>
              </a:lnSpc>
            </a:pPr>
            <a:r>
              <a:rPr sz="1400" b="0">
                <a:solidFill>
                  <a:srgbClr val="BFD0E6"/>
                </a:solidFill>
                <a:latin typeface="Calibri"/>
              </a:rPr>
              <a:t>One lump sum. Nobody can see what each part costs or what a change would do to the total.</a:t>
            </a:r>
          </a:p>
        </p:txBody>
      </p:sp>
      <p:sp>
        <p:nvSpPr>
          <p:cNvPr id="14" name="Rounded Rectangle 13"/>
          <p:cNvSpPr/>
          <p:nvPr/>
        </p:nvSpPr>
        <p:spPr>
          <a:xfrm>
            <a:off x="8127796" y="4023360"/>
            <a:ext cx="3515258" cy="2011680"/>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2116" y="4206240"/>
            <a:ext cx="2966618" cy="365760"/>
          </a:xfrm>
          <a:prstGeom prst="rect">
            <a:avLst/>
          </a:prstGeom>
          <a:noFill/>
        </p:spPr>
        <p:txBody>
          <a:bodyPr wrap="square" anchor="t" lIns="0" rIns="0" tIns="0" bIns="0">
            <a:spAutoFit/>
          </a:bodyPr>
          <a:lstStyle/>
          <a:p>
            <a:pPr algn="l">
              <a:lnSpc>
                <a:spcPct val="115000"/>
              </a:lnSpc>
            </a:pPr>
            <a:r>
              <a:rPr sz="1400" b="1">
                <a:solidFill>
                  <a:srgbClr val="F59E5B"/>
                </a:solidFill>
                <a:latin typeface="Calibri"/>
              </a:rPr>
              <a:t>03</a:t>
            </a:r>
          </a:p>
        </p:txBody>
      </p:sp>
      <p:sp>
        <p:nvSpPr>
          <p:cNvPr id="16" name="TextBox 15"/>
          <p:cNvSpPr txBox="1"/>
          <p:nvPr/>
        </p:nvSpPr>
        <p:spPr>
          <a:xfrm>
            <a:off x="8402116" y="4526280"/>
            <a:ext cx="2966618" cy="411480"/>
          </a:xfrm>
          <a:prstGeom prst="rect">
            <a:avLst/>
          </a:prstGeom>
          <a:noFill/>
        </p:spPr>
        <p:txBody>
          <a:bodyPr wrap="square" anchor="t" lIns="0" rIns="0" tIns="0" bIns="0">
            <a:spAutoFit/>
          </a:bodyPr>
          <a:lstStyle/>
          <a:p>
            <a:pPr algn="l">
              <a:lnSpc>
                <a:spcPct val="115000"/>
              </a:lnSpc>
            </a:pPr>
            <a:r>
              <a:rPr sz="2000" b="1">
                <a:solidFill>
                  <a:srgbClr val="F4F7FB"/>
                </a:solidFill>
                <a:latin typeface="Calibri"/>
              </a:rPr>
              <a:t>Guides picked blind</a:t>
            </a:r>
          </a:p>
        </p:txBody>
      </p:sp>
      <p:sp>
        <p:nvSpPr>
          <p:cNvPr id="17" name="TextBox 16"/>
          <p:cNvSpPr txBox="1"/>
          <p:nvPr/>
        </p:nvSpPr>
        <p:spPr>
          <a:xfrm>
            <a:off x="8402116" y="4983480"/>
            <a:ext cx="2966618" cy="1005840"/>
          </a:xfrm>
          <a:prstGeom prst="rect">
            <a:avLst/>
          </a:prstGeom>
          <a:noFill/>
        </p:spPr>
        <p:txBody>
          <a:bodyPr wrap="square" anchor="t" lIns="0" rIns="0" tIns="0" bIns="0">
            <a:spAutoFit/>
          </a:bodyPr>
          <a:lstStyle/>
          <a:p>
            <a:pPr algn="l">
              <a:lnSpc>
                <a:spcPct val="120000"/>
              </a:lnSpc>
            </a:pPr>
            <a:r>
              <a:rPr sz="1400" b="0">
                <a:solidFill>
                  <a:srgbClr val="BFD0E6"/>
                </a:solidFill>
                <a:latin typeface="Calibri"/>
              </a:rPr>
              <a:t>A guide can be sold for a day they are already booked, and language or specialisation is ignored.</a:t>
            </a:r>
          </a:p>
        </p:txBody>
      </p:sp>
      <p:sp>
        <p:nvSpPr>
          <p:cNvPr id="18" name="TextBox 17"/>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BFD0E6"/>
                </a:solidFill>
                <a:latin typeface="Calibri"/>
              </a:rPr>
              <a:t>PackagePro · PS-04 Dynamic Tour Packages · Team RNG Gods</a:t>
            </a:r>
          </a:p>
        </p:txBody>
      </p:sp>
      <p:sp>
        <p:nvSpPr>
          <p:cNvPr id="19" name="TextBox 18"/>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BFD0E6"/>
                </a:solidFill>
                <a:latin typeface="Calibri"/>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IDEA · PROPOSED SOLUTION</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A package you can reshape — every change repriced live</a:t>
            </a:r>
          </a:p>
        </p:txBody>
      </p:sp>
      <p:sp>
        <p:nvSpPr>
          <p:cNvPr id="4" name="TextBox 3"/>
          <p:cNvSpPr txBox="1"/>
          <p:nvPr/>
        </p:nvSpPr>
        <p:spPr>
          <a:xfrm>
            <a:off x="548640" y="1417320"/>
            <a:ext cx="11094415" cy="548640"/>
          </a:xfrm>
          <a:prstGeom prst="rect">
            <a:avLst/>
          </a:prstGeom>
          <a:noFill/>
        </p:spPr>
        <p:txBody>
          <a:bodyPr wrap="square" anchor="t" lIns="0" rIns="0" tIns="0" bIns="0">
            <a:spAutoFit/>
          </a:bodyPr>
          <a:lstStyle/>
          <a:p>
            <a:pPr algn="l">
              <a:lnSpc>
                <a:spcPct val="115000"/>
              </a:lnSpc>
            </a:pPr>
            <a:r>
              <a:rPr sz="1500" b="0">
                <a:solidFill>
                  <a:srgbClr val="3F4C63"/>
                </a:solidFill>
                <a:latin typeface="Calibri"/>
              </a:rPr>
              <a:t>Start from a curated package, reshape it piece by piece, add a guide checked against real availability, and book it — on the web or in Telegram, in your language.</a:t>
            </a:r>
          </a:p>
        </p:txBody>
      </p:sp>
      <p:sp>
        <p:nvSpPr>
          <p:cNvPr id="5" name="Rounded Rectangle 4"/>
          <p:cNvSpPr/>
          <p:nvPr/>
        </p:nvSpPr>
        <p:spPr>
          <a:xfrm>
            <a:off x="548640" y="2148840"/>
            <a:ext cx="4800600" cy="88696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359152"/>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59152"/>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1</a:t>
            </a:r>
          </a:p>
        </p:txBody>
      </p:sp>
      <p:sp>
        <p:nvSpPr>
          <p:cNvPr id="8" name="TextBox 7"/>
          <p:cNvSpPr txBox="1"/>
          <p:nvPr/>
        </p:nvSpPr>
        <p:spPr>
          <a:xfrm>
            <a:off x="1371600" y="2258568"/>
            <a:ext cx="3794760"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Curated start</a:t>
            </a:r>
          </a:p>
        </p:txBody>
      </p:sp>
      <p:sp>
        <p:nvSpPr>
          <p:cNvPr id="9" name="TextBox 8"/>
          <p:cNvSpPr txBox="1"/>
          <p:nvPr/>
        </p:nvSpPr>
        <p:spPr>
          <a:xfrm>
            <a:off x="1371600" y="2578608"/>
            <a:ext cx="3794760" cy="411480"/>
          </a:xfrm>
          <a:prstGeom prst="rect">
            <a:avLst/>
          </a:prstGeom>
          <a:noFill/>
        </p:spPr>
        <p:txBody>
          <a:bodyPr wrap="square" anchor="t" lIns="0" rIns="0" tIns="0" bIns="0">
            <a:spAutoFit/>
          </a:bodyPr>
          <a:lstStyle/>
          <a:p>
            <a:pPr algn="l">
              <a:lnSpc>
                <a:spcPct val="110000"/>
              </a:lnSpc>
            </a:pPr>
            <a:r>
              <a:rPr sz="1200" b="0">
                <a:solidFill>
                  <a:srgbClr val="3F4C63"/>
                </a:solidFill>
                <a:latin typeface="Calibri"/>
              </a:rPr>
              <a:t>45 real PS-04 packages; picks follow your mood — beaches, heritage, mountains.</a:t>
            </a:r>
          </a:p>
        </p:txBody>
      </p:sp>
      <p:sp>
        <p:nvSpPr>
          <p:cNvPr id="10" name="Rounded Rectangle 9"/>
          <p:cNvSpPr/>
          <p:nvPr/>
        </p:nvSpPr>
        <p:spPr>
          <a:xfrm>
            <a:off x="548640" y="3127248"/>
            <a:ext cx="4800600" cy="88696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337560"/>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37560"/>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2</a:t>
            </a:r>
          </a:p>
        </p:txBody>
      </p:sp>
      <p:sp>
        <p:nvSpPr>
          <p:cNvPr id="13" name="TextBox 12"/>
          <p:cNvSpPr txBox="1"/>
          <p:nvPr/>
        </p:nvSpPr>
        <p:spPr>
          <a:xfrm>
            <a:off x="1371600" y="3236976"/>
            <a:ext cx="3794760"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Reshape live</a:t>
            </a:r>
          </a:p>
        </p:txBody>
      </p:sp>
      <p:sp>
        <p:nvSpPr>
          <p:cNvPr id="14" name="TextBox 13"/>
          <p:cNvSpPr txBox="1"/>
          <p:nvPr/>
        </p:nvSpPr>
        <p:spPr>
          <a:xfrm>
            <a:off x="1371600" y="3557015"/>
            <a:ext cx="3794760" cy="411480"/>
          </a:xfrm>
          <a:prstGeom prst="rect">
            <a:avLst/>
          </a:prstGeom>
          <a:noFill/>
        </p:spPr>
        <p:txBody>
          <a:bodyPr wrap="square" anchor="t" lIns="0" rIns="0" tIns="0" bIns="0">
            <a:spAutoFit/>
          </a:bodyPr>
          <a:lstStyle/>
          <a:p>
            <a:pPr algn="l">
              <a:lnSpc>
                <a:spcPct val="110000"/>
              </a:lnSpc>
            </a:pPr>
            <a:r>
              <a:rPr sz="1200" b="0">
                <a:solidFill>
                  <a:srgbClr val="3F4C63"/>
                </a:solidFill>
                <a:latin typeface="Calibri"/>
              </a:rPr>
              <a:t>Swap hotel, activity or transfer, add extras, change days; the whole plan reprices.</a:t>
            </a:r>
          </a:p>
        </p:txBody>
      </p:sp>
      <p:sp>
        <p:nvSpPr>
          <p:cNvPr id="15" name="Rounded Rectangle 14"/>
          <p:cNvSpPr/>
          <p:nvPr/>
        </p:nvSpPr>
        <p:spPr>
          <a:xfrm>
            <a:off x="548640" y="4105656"/>
            <a:ext cx="4800600" cy="88696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315968"/>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315968"/>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3</a:t>
            </a:r>
          </a:p>
        </p:txBody>
      </p:sp>
      <p:sp>
        <p:nvSpPr>
          <p:cNvPr id="18" name="TextBox 17"/>
          <p:cNvSpPr txBox="1"/>
          <p:nvPr/>
        </p:nvSpPr>
        <p:spPr>
          <a:xfrm>
            <a:off x="1371600" y="4215384"/>
            <a:ext cx="3794760"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Guides checked day by day</a:t>
            </a:r>
          </a:p>
        </p:txBody>
      </p:sp>
      <p:sp>
        <p:nvSpPr>
          <p:cNvPr id="19" name="TextBox 18"/>
          <p:cNvSpPr txBox="1"/>
          <p:nvPr/>
        </p:nvSpPr>
        <p:spPr>
          <a:xfrm>
            <a:off x="1371600" y="4535424"/>
            <a:ext cx="3794760" cy="411480"/>
          </a:xfrm>
          <a:prstGeom prst="rect">
            <a:avLst/>
          </a:prstGeom>
          <a:noFill/>
        </p:spPr>
        <p:txBody>
          <a:bodyPr wrap="square" anchor="t" lIns="0" rIns="0" tIns="0" bIns="0">
            <a:spAutoFit/>
          </a:bodyPr>
          <a:lstStyle/>
          <a:p>
            <a:pPr algn="l">
              <a:lnSpc>
                <a:spcPct val="110000"/>
              </a:lnSpc>
            </a:pPr>
            <a:r>
              <a:rPr sz="1200" b="0">
                <a:solidFill>
                  <a:srgbClr val="3F4C63"/>
                </a:solidFill>
                <a:latin typeface="Calibri"/>
              </a:rPr>
              <a:t>Refused with the clashing date named; a matching substitute is offered, repriced.</a:t>
            </a:r>
          </a:p>
        </p:txBody>
      </p:sp>
      <p:sp>
        <p:nvSpPr>
          <p:cNvPr id="20" name="Rounded Rectangle 19"/>
          <p:cNvSpPr/>
          <p:nvPr/>
        </p:nvSpPr>
        <p:spPr>
          <a:xfrm>
            <a:off x="548640" y="5084064"/>
            <a:ext cx="4800600" cy="88696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5294376"/>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294376"/>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4</a:t>
            </a:r>
          </a:p>
        </p:txBody>
      </p:sp>
      <p:sp>
        <p:nvSpPr>
          <p:cNvPr id="23" name="TextBox 22"/>
          <p:cNvSpPr txBox="1"/>
          <p:nvPr/>
        </p:nvSpPr>
        <p:spPr>
          <a:xfrm>
            <a:off x="1371600" y="5193792"/>
            <a:ext cx="3794760"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Your language, your channel</a:t>
            </a:r>
          </a:p>
        </p:txBody>
      </p:sp>
      <p:sp>
        <p:nvSpPr>
          <p:cNvPr id="24" name="TextBox 23"/>
          <p:cNvSpPr txBox="1"/>
          <p:nvPr/>
        </p:nvSpPr>
        <p:spPr>
          <a:xfrm>
            <a:off x="1371600" y="5513832"/>
            <a:ext cx="3794760" cy="411480"/>
          </a:xfrm>
          <a:prstGeom prst="rect">
            <a:avLst/>
          </a:prstGeom>
          <a:noFill/>
        </p:spPr>
        <p:txBody>
          <a:bodyPr wrap="square" anchor="t" lIns="0" rIns="0" tIns="0" bIns="0">
            <a:spAutoFit/>
          </a:bodyPr>
          <a:lstStyle/>
          <a:p>
            <a:pPr algn="l">
              <a:lnSpc>
                <a:spcPct val="110000"/>
              </a:lnSpc>
            </a:pPr>
            <a:r>
              <a:rPr sz="1200" b="0">
                <a:solidFill>
                  <a:srgbClr val="3F4C63"/>
                </a:solidFill>
                <a:latin typeface="Calibri"/>
              </a:rPr>
              <a:t>4 app languages · web, Telegram bot and a printable quotation on one engine.</a:t>
            </a:r>
          </a:p>
        </p:txBody>
      </p:sp>
      <p:sp>
        <p:nvSpPr>
          <p:cNvPr id="25" name="Rounded Rectangle 24"/>
          <p:cNvSpPr/>
          <p:nvPr/>
        </p:nvSpPr>
        <p:spPr>
          <a:xfrm>
            <a:off x="5699455" y="2212848"/>
            <a:ext cx="5989320" cy="3389788"/>
          </a:xfrm>
          <a:prstGeom prst="roundRect">
            <a:avLst>
              <a:gd name="adj" fmla="val 2000"/>
            </a:avLst>
          </a:prstGeom>
          <a:solidFill>
            <a:srgbClr val="E1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pp-home.jpg"/>
          <p:cNvPicPr>
            <a:picLocks noChangeAspect="1"/>
          </p:cNvPicPr>
          <p:nvPr/>
        </p:nvPicPr>
        <p:blipFill>
          <a:blip r:embed="rId2"/>
          <a:stretch>
            <a:fillRect/>
          </a:stretch>
        </p:blipFill>
        <p:spPr>
          <a:xfrm>
            <a:off x="5653735" y="2148840"/>
            <a:ext cx="5989320" cy="3389788"/>
          </a:xfrm>
          <a:prstGeom prst="rect">
            <a:avLst/>
          </a:prstGeom>
          <a:ln w="12700">
            <a:solidFill>
              <a:srgbClr val="DCE3EE"/>
            </a:solidFill>
          </a:ln>
        </p:spPr>
      </p:pic>
      <p:sp>
        <p:nvSpPr>
          <p:cNvPr id="27" name="TextBox 26"/>
          <p:cNvSpPr txBox="1"/>
          <p:nvPr/>
        </p:nvSpPr>
        <p:spPr>
          <a:xfrm>
            <a:off x="5653735" y="5648356"/>
            <a:ext cx="5989320" cy="274320"/>
          </a:xfrm>
          <a:prstGeom prst="rect">
            <a:avLst/>
          </a:prstGeom>
          <a:noFill/>
        </p:spPr>
        <p:txBody>
          <a:bodyPr wrap="square" anchor="t" lIns="0" rIns="0" tIns="0" bIns="0">
            <a:spAutoFit/>
          </a:bodyPr>
          <a:lstStyle/>
          <a:p>
            <a:pPr algn="l">
              <a:lnSpc>
                <a:spcPct val="115000"/>
              </a:lnSpc>
            </a:pPr>
            <a:r>
              <a:rPr sz="1100" b="0">
                <a:solidFill>
                  <a:srgbClr val="6A7689"/>
                </a:solidFill>
                <a:latin typeface="Calibri"/>
              </a:rPr>
              <a:t>Live app: the beach mood moved the destination to Chennai and re-ranked the packages.</a:t>
            </a:r>
          </a:p>
        </p:txBody>
      </p:sp>
      <p:sp>
        <p:nvSpPr>
          <p:cNvPr id="28" name="TextBox 27"/>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29" name="TextBox 28"/>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ARCHITECTURE · TECHNICAL APPROACH</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One TypeScript service, two channels, one trip engine</a:t>
            </a:r>
          </a:p>
        </p:txBody>
      </p:sp>
      <p:sp>
        <p:nvSpPr>
          <p:cNvPr id="4" name="Rounded Rectangle 3"/>
          <p:cNvSpPr/>
          <p:nvPr/>
        </p:nvSpPr>
        <p:spPr>
          <a:xfrm>
            <a:off x="548640" y="1600200"/>
            <a:ext cx="2423160" cy="2057400"/>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55648"/>
            <a:ext cx="2057400" cy="365760"/>
          </a:xfrm>
          <a:prstGeom prst="rect">
            <a:avLst/>
          </a:prstGeom>
          <a:noFill/>
        </p:spPr>
        <p:txBody>
          <a:bodyPr wrap="square" anchor="t" lIns="0" rIns="0" tIns="0" bIns="0">
            <a:spAutoFit/>
          </a:bodyPr>
          <a:lstStyle/>
          <a:p>
            <a:pPr algn="l">
              <a:lnSpc>
                <a:spcPct val="115000"/>
              </a:lnSpc>
            </a:pPr>
            <a:r>
              <a:rPr sz="1800" b="1">
                <a:solidFill>
                  <a:srgbClr val="0B1F3A"/>
                </a:solidFill>
                <a:latin typeface="Calibri"/>
              </a:rPr>
              <a:t>Channels</a:t>
            </a:r>
          </a:p>
        </p:txBody>
      </p:sp>
      <p:sp>
        <p:nvSpPr>
          <p:cNvPr id="6" name="TextBox 5"/>
          <p:cNvSpPr txBox="1"/>
          <p:nvPr/>
        </p:nvSpPr>
        <p:spPr>
          <a:xfrm>
            <a:off x="731520" y="2212848"/>
            <a:ext cx="2057400" cy="1371600"/>
          </a:xfrm>
          <a:prstGeom prst="rect">
            <a:avLst/>
          </a:prstGeom>
          <a:noFill/>
        </p:spPr>
        <p:txBody>
          <a:bodyPr wrap="square" anchor="t" lIns="0" rIns="0" tIns="0" bIns="0">
            <a:spAutoFit/>
          </a:bodyPr>
          <a:lstStyle/>
          <a:p>
            <a:pPr algn="l">
              <a:lnSpc>
                <a:spcPct val="120000"/>
              </a:lnSpc>
            </a:pPr>
            <a:r>
              <a:rPr sz="1300" b="0">
                <a:solidFill>
                  <a:srgbClr val="3F4C63"/>
                </a:solidFill>
                <a:latin typeface="Calibri"/>
              </a:rPr>
              <a:t>Web app</a:t>
            </a:r>
          </a:p>
          <a:p>
            <a:pPr algn="l">
              <a:lnSpc>
                <a:spcPct val="120000"/>
              </a:lnSpc>
            </a:pPr>
            <a:r>
              <a:rPr sz="1300" b="0">
                <a:solidFill>
                  <a:srgbClr val="3F4C63"/>
                </a:solidFill>
                <a:latin typeface="Calibri"/>
              </a:rPr>
              <a:t>React 19 · Vite · Tailwind</a:t>
            </a:r>
          </a:p>
          <a:p>
            <a:pPr algn="l">
              <a:lnSpc>
                <a:spcPct val="120000"/>
              </a:lnSpc>
            </a:pPr>
            <a:r>
              <a:rPr sz="1300" b="0">
                <a:solidFill>
                  <a:srgbClr val="3F4C63"/>
                </a:solidFill>
                <a:latin typeface="Calibri"/>
              </a:rPr>
              <a:t>Telegram bot</a:t>
            </a:r>
          </a:p>
          <a:p>
            <a:pPr algn="l">
              <a:lnSpc>
                <a:spcPct val="120000"/>
              </a:lnSpc>
            </a:pPr>
            <a:r>
              <a:rPr sz="1300" b="0">
                <a:solidFill>
                  <a:srgbClr val="3F4C63"/>
                </a:solidFill>
                <a:latin typeface="Calibri"/>
              </a:rPr>
              <a:t>@wayypoint_Bot</a:t>
            </a:r>
          </a:p>
        </p:txBody>
      </p:sp>
      <p:sp>
        <p:nvSpPr>
          <p:cNvPr id="7" name="Right Arrow 6"/>
          <p:cNvSpPr/>
          <p:nvPr/>
        </p:nvSpPr>
        <p:spPr>
          <a:xfrm>
            <a:off x="3026664" y="2487168"/>
            <a:ext cx="411480" cy="292608"/>
          </a:xfrm>
          <a:prstGeom prst="rightArrow">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1600200"/>
            <a:ext cx="2423160" cy="2057400"/>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55648"/>
            <a:ext cx="2057400" cy="365760"/>
          </a:xfrm>
          <a:prstGeom prst="rect">
            <a:avLst/>
          </a:prstGeom>
          <a:noFill/>
        </p:spPr>
        <p:txBody>
          <a:bodyPr wrap="square" anchor="t" lIns="0" rIns="0" tIns="0" bIns="0">
            <a:spAutoFit/>
          </a:bodyPr>
          <a:lstStyle/>
          <a:p>
            <a:pPr algn="l">
              <a:lnSpc>
                <a:spcPct val="115000"/>
              </a:lnSpc>
            </a:pPr>
            <a:r>
              <a:rPr sz="1800" b="1">
                <a:solidFill>
                  <a:srgbClr val="0B1F3A"/>
                </a:solidFill>
                <a:latin typeface="Calibri"/>
              </a:rPr>
              <a:t>API</a:t>
            </a:r>
          </a:p>
        </p:txBody>
      </p:sp>
      <p:sp>
        <p:nvSpPr>
          <p:cNvPr id="10" name="TextBox 9"/>
          <p:cNvSpPr txBox="1"/>
          <p:nvPr/>
        </p:nvSpPr>
        <p:spPr>
          <a:xfrm>
            <a:off x="3657600" y="2212848"/>
            <a:ext cx="2057400" cy="1371600"/>
          </a:xfrm>
          <a:prstGeom prst="rect">
            <a:avLst/>
          </a:prstGeom>
          <a:noFill/>
        </p:spPr>
        <p:txBody>
          <a:bodyPr wrap="square" anchor="t" lIns="0" rIns="0" tIns="0" bIns="0">
            <a:spAutoFit/>
          </a:bodyPr>
          <a:lstStyle/>
          <a:p>
            <a:pPr algn="l">
              <a:lnSpc>
                <a:spcPct val="120000"/>
              </a:lnSpc>
            </a:pPr>
            <a:r>
              <a:rPr sz="1300" b="0">
                <a:solidFill>
                  <a:srgbClr val="3F4C63"/>
                </a:solidFill>
                <a:latin typeface="Calibri"/>
              </a:rPr>
              <a:t>tRPC + Zod</a:t>
            </a:r>
          </a:p>
          <a:p>
            <a:pPr algn="l">
              <a:lnSpc>
                <a:spcPct val="120000"/>
              </a:lnSpc>
            </a:pPr>
            <a:r>
              <a:rPr sz="1300" b="0">
                <a:solidFill>
                  <a:srgbClr val="3F4C63"/>
                </a:solidFill>
                <a:latin typeface="Calibri"/>
              </a:rPr>
              <a:t>Node 22 · Express</a:t>
            </a:r>
          </a:p>
          <a:p>
            <a:pPr algn="l">
              <a:lnSpc>
                <a:spcPct val="120000"/>
              </a:lnSpc>
            </a:pPr>
            <a:r>
              <a:rPr sz="1300" b="0">
                <a:solidFill>
                  <a:srgbClr val="3F4C63"/>
                </a:solidFill>
                <a:latin typeface="Calibri"/>
              </a:rPr>
              <a:t>Typed end to end,</a:t>
            </a:r>
          </a:p>
          <a:p>
            <a:pPr algn="l">
              <a:lnSpc>
                <a:spcPct val="120000"/>
              </a:lnSpc>
            </a:pPr>
            <a:r>
              <a:rPr sz="1300" b="0">
                <a:solidFill>
                  <a:srgbClr val="3F4C63"/>
                </a:solidFill>
                <a:latin typeface="Calibri"/>
              </a:rPr>
              <a:t>inputs validated</a:t>
            </a:r>
          </a:p>
        </p:txBody>
      </p:sp>
      <p:sp>
        <p:nvSpPr>
          <p:cNvPr id="11" name="Right Arrow 10"/>
          <p:cNvSpPr/>
          <p:nvPr/>
        </p:nvSpPr>
        <p:spPr>
          <a:xfrm>
            <a:off x="5952744" y="2487168"/>
            <a:ext cx="411480" cy="292608"/>
          </a:xfrm>
          <a:prstGeom prst="rightArrow">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1600200"/>
            <a:ext cx="2423160" cy="2057400"/>
          </a:xfrm>
          <a:prstGeom prst="roundRect">
            <a:avLst>
              <a:gd name="adj" fmla="val 8000"/>
            </a:avLst>
          </a:prstGeom>
          <a:solidFill>
            <a:srgbClr val="EAF2FD"/>
          </a:solidFill>
          <a:ln w="12700">
            <a:solidFill>
              <a:srgbClr val="9CC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755648"/>
            <a:ext cx="2057400" cy="365760"/>
          </a:xfrm>
          <a:prstGeom prst="rect">
            <a:avLst/>
          </a:prstGeom>
          <a:noFill/>
        </p:spPr>
        <p:txBody>
          <a:bodyPr wrap="square" anchor="t" lIns="0" rIns="0" tIns="0" bIns="0">
            <a:spAutoFit/>
          </a:bodyPr>
          <a:lstStyle/>
          <a:p>
            <a:pPr algn="l">
              <a:lnSpc>
                <a:spcPct val="115000"/>
              </a:lnSpc>
            </a:pPr>
            <a:r>
              <a:rPr sz="1800" b="1">
                <a:solidFill>
                  <a:srgbClr val="0B6BCB"/>
                </a:solidFill>
                <a:latin typeface="Calibri"/>
              </a:rPr>
              <a:t>Trip engine</a:t>
            </a:r>
          </a:p>
        </p:txBody>
      </p:sp>
      <p:sp>
        <p:nvSpPr>
          <p:cNvPr id="14" name="TextBox 13"/>
          <p:cNvSpPr txBox="1"/>
          <p:nvPr/>
        </p:nvSpPr>
        <p:spPr>
          <a:xfrm>
            <a:off x="6583680" y="2212848"/>
            <a:ext cx="2057400" cy="1371600"/>
          </a:xfrm>
          <a:prstGeom prst="rect">
            <a:avLst/>
          </a:prstGeom>
          <a:noFill/>
        </p:spPr>
        <p:txBody>
          <a:bodyPr wrap="square" anchor="t" lIns="0" rIns="0" tIns="0" bIns="0">
            <a:spAutoFit/>
          </a:bodyPr>
          <a:lstStyle/>
          <a:p>
            <a:pPr algn="l">
              <a:lnSpc>
                <a:spcPct val="120000"/>
              </a:lnSpc>
            </a:pPr>
            <a:r>
              <a:rPr sz="1300" b="0">
                <a:solidFill>
                  <a:srgbClr val="3F4C63"/>
                </a:solidFill>
                <a:latin typeface="Calibri"/>
              </a:rPr>
              <a:t>Pricing in integer paise</a:t>
            </a:r>
          </a:p>
          <a:p>
            <a:pPr algn="l">
              <a:lnSpc>
                <a:spcPct val="120000"/>
              </a:lnSpc>
            </a:pPr>
            <a:r>
              <a:rPr sz="1300" b="0">
                <a:solidFill>
                  <a:srgbClr val="3F4C63"/>
                </a:solidFill>
                <a:latin typeface="Calibri"/>
              </a:rPr>
              <a:t>Swaps · budget fixes</a:t>
            </a:r>
          </a:p>
          <a:p>
            <a:pPr algn="l">
              <a:lnSpc>
                <a:spcPct val="120000"/>
              </a:lnSpc>
            </a:pPr>
            <a:r>
              <a:rPr sz="1300" b="0">
                <a:solidFill>
                  <a:srgbClr val="3F4C63"/>
                </a:solidFill>
                <a:latin typeface="Calibri"/>
              </a:rPr>
              <a:t>Guide check</a:t>
            </a:r>
          </a:p>
          <a:p>
            <a:pPr algn="l">
              <a:lnSpc>
                <a:spcPct val="120000"/>
              </a:lnSpc>
            </a:pPr>
            <a:r>
              <a:rPr sz="1300" b="0">
                <a:solidFill>
                  <a:srgbClr val="3F4C63"/>
                </a:solidFill>
                <a:latin typeface="Calibri"/>
              </a:rPr>
              <a:t>Booking transaction</a:t>
            </a:r>
          </a:p>
        </p:txBody>
      </p:sp>
      <p:sp>
        <p:nvSpPr>
          <p:cNvPr id="15" name="Right Arrow 14"/>
          <p:cNvSpPr/>
          <p:nvPr/>
        </p:nvSpPr>
        <p:spPr>
          <a:xfrm>
            <a:off x="8878824" y="2487168"/>
            <a:ext cx="411480" cy="292608"/>
          </a:xfrm>
          <a:prstGeom prst="rightArrow">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0" y="1600200"/>
            <a:ext cx="2423160" cy="2057400"/>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0" y="1755648"/>
            <a:ext cx="2057400" cy="365760"/>
          </a:xfrm>
          <a:prstGeom prst="rect">
            <a:avLst/>
          </a:prstGeom>
          <a:noFill/>
        </p:spPr>
        <p:txBody>
          <a:bodyPr wrap="square" anchor="t" lIns="0" rIns="0" tIns="0" bIns="0">
            <a:spAutoFit/>
          </a:bodyPr>
          <a:lstStyle/>
          <a:p>
            <a:pPr algn="l">
              <a:lnSpc>
                <a:spcPct val="115000"/>
              </a:lnSpc>
            </a:pPr>
            <a:r>
              <a:rPr sz="1800" b="1">
                <a:solidFill>
                  <a:srgbClr val="0B1F3A"/>
                </a:solidFill>
                <a:latin typeface="Calibri"/>
              </a:rPr>
              <a:t>Data</a:t>
            </a:r>
          </a:p>
        </p:txBody>
      </p:sp>
      <p:sp>
        <p:nvSpPr>
          <p:cNvPr id="18" name="TextBox 17"/>
          <p:cNvSpPr txBox="1"/>
          <p:nvPr/>
        </p:nvSpPr>
        <p:spPr>
          <a:xfrm>
            <a:off x="9509760" y="2212848"/>
            <a:ext cx="2057400" cy="1371600"/>
          </a:xfrm>
          <a:prstGeom prst="rect">
            <a:avLst/>
          </a:prstGeom>
          <a:noFill/>
        </p:spPr>
        <p:txBody>
          <a:bodyPr wrap="square" anchor="t" lIns="0" rIns="0" tIns="0" bIns="0">
            <a:spAutoFit/>
          </a:bodyPr>
          <a:lstStyle/>
          <a:p>
            <a:pPr algn="l">
              <a:lnSpc>
                <a:spcPct val="120000"/>
              </a:lnSpc>
            </a:pPr>
            <a:r>
              <a:rPr sz="1300" b="0">
                <a:solidFill>
                  <a:srgbClr val="3F4C63"/>
                </a:solidFill>
                <a:latin typeface="Calibri"/>
              </a:rPr>
              <a:t>PS-04 dataset (read-only)</a:t>
            </a:r>
          </a:p>
          <a:p>
            <a:pPr algn="l">
              <a:lnSpc>
                <a:spcPct val="120000"/>
              </a:lnSpc>
            </a:pPr>
            <a:r>
              <a:rPr sz="1300" b="0">
                <a:solidFill>
                  <a:srgbClr val="3F4C63"/>
                </a:solidFill>
                <a:latin typeface="Calibri"/>
              </a:rPr>
              <a:t>Canonical trips, itineraries,</a:t>
            </a:r>
          </a:p>
          <a:p>
            <a:pPr algn="l">
              <a:lnSpc>
                <a:spcPct val="120000"/>
              </a:lnSpc>
            </a:pPr>
            <a:r>
              <a:rPr sz="1300" b="0">
                <a:solidFill>
                  <a:srgbClr val="3F4C63"/>
                </a:solidFill>
                <a:latin typeface="Calibri"/>
              </a:rPr>
              <a:t>items, bookings</a:t>
            </a:r>
          </a:p>
          <a:p>
            <a:pPr algn="l">
              <a:lnSpc>
                <a:spcPct val="120000"/>
              </a:lnSpc>
            </a:pPr>
            <a:r>
              <a:rPr sz="1300" b="0">
                <a:solidFill>
                  <a:srgbClr val="3F4C63"/>
                </a:solidFill>
                <a:latin typeface="Calibri"/>
              </a:rPr>
              <a:t>+ app_* additions</a:t>
            </a:r>
          </a:p>
        </p:txBody>
      </p:sp>
      <p:sp>
        <p:nvSpPr>
          <p:cNvPr id="19" name="Rounded Rectangle 18"/>
          <p:cNvSpPr/>
          <p:nvPr/>
        </p:nvSpPr>
        <p:spPr>
          <a:xfrm>
            <a:off x="548640" y="3886200"/>
            <a:ext cx="5437479" cy="1188720"/>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05072"/>
            <a:ext cx="4998567"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AI — grounded, validated</a:t>
            </a:r>
          </a:p>
        </p:txBody>
      </p:sp>
      <p:sp>
        <p:nvSpPr>
          <p:cNvPr id="21" name="TextBox 20"/>
          <p:cNvSpPr txBox="1"/>
          <p:nvPr/>
        </p:nvSpPr>
        <p:spPr>
          <a:xfrm>
            <a:off x="777240" y="4370832"/>
            <a:ext cx="4998567"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Sarvam sarvam-105b-conversations (OpenRouter fallback). Picks only real catalogue IDs; budget checked before and after the model; rule-based fallbacks.</a:t>
            </a:r>
          </a:p>
        </p:txBody>
      </p:sp>
      <p:sp>
        <p:nvSpPr>
          <p:cNvPr id="22" name="Rounded Rectangle 21"/>
          <p:cNvSpPr/>
          <p:nvPr/>
        </p:nvSpPr>
        <p:spPr>
          <a:xfrm>
            <a:off x="6205575" y="3886200"/>
            <a:ext cx="5437479" cy="1188720"/>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4175" y="4005072"/>
            <a:ext cx="4998567"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Integrations</a:t>
            </a:r>
          </a:p>
        </p:txBody>
      </p:sp>
      <p:sp>
        <p:nvSpPr>
          <p:cNvPr id="24" name="TextBox 23"/>
          <p:cNvSpPr txBox="1"/>
          <p:nvPr/>
        </p:nvSpPr>
        <p:spPr>
          <a:xfrm>
            <a:off x="6434175" y="4370832"/>
            <a:ext cx="4998567"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SerpAPI Google Flights (live fares) · Sarvam mayura translation (cached) · Wikipedia photos · Railway deploy with a /data volume.</a:t>
            </a:r>
          </a:p>
        </p:txBody>
      </p:sp>
      <p:sp>
        <p:nvSpPr>
          <p:cNvPr id="25" name="Rounded Rectangle 24"/>
          <p:cNvSpPr/>
          <p:nvPr/>
        </p:nvSpPr>
        <p:spPr>
          <a:xfrm>
            <a:off x="548640" y="5303520"/>
            <a:ext cx="3576218" cy="7315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303520"/>
            <a:ext cx="3210458" cy="731520"/>
          </a:xfrm>
          <a:prstGeom prst="rect">
            <a:avLst/>
          </a:prstGeom>
          <a:noFill/>
        </p:spPr>
        <p:txBody>
          <a:bodyPr wrap="square" anchor="ctr" lIns="0" rIns="0" tIns="0" bIns="0">
            <a:spAutoFit/>
          </a:bodyPr>
          <a:lstStyle/>
          <a:p>
            <a:pPr algn="ctr">
              <a:lnSpc>
                <a:spcPct val="115000"/>
              </a:lnSpc>
            </a:pPr>
            <a:r>
              <a:rPr sz="1300" b="1">
                <a:solidFill>
                  <a:srgbClr val="F4F7FB"/>
                </a:solidFill>
                <a:latin typeface="Calibri"/>
              </a:rPr>
              <a:t>One engine, two channels: a rule is enforced once</a:t>
            </a:r>
          </a:p>
        </p:txBody>
      </p:sp>
      <p:sp>
        <p:nvSpPr>
          <p:cNvPr id="27" name="Rounded Rectangle 26"/>
          <p:cNvSpPr/>
          <p:nvPr/>
        </p:nvSpPr>
        <p:spPr>
          <a:xfrm>
            <a:off x="4307738" y="5303520"/>
            <a:ext cx="3576218" cy="7315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0618" y="5303520"/>
            <a:ext cx="3210458" cy="731520"/>
          </a:xfrm>
          <a:prstGeom prst="rect">
            <a:avLst/>
          </a:prstGeom>
          <a:noFill/>
        </p:spPr>
        <p:txBody>
          <a:bodyPr wrap="square" anchor="ctr" lIns="0" rIns="0" tIns="0" bIns="0">
            <a:spAutoFit/>
          </a:bodyPr>
          <a:lstStyle/>
          <a:p>
            <a:pPr algn="ctr">
              <a:lnSpc>
                <a:spcPct val="115000"/>
              </a:lnSpc>
            </a:pPr>
            <a:r>
              <a:rPr sz="1300" b="1">
                <a:solidFill>
                  <a:srgbClr val="F4F7FB"/>
                </a:solidFill>
                <a:latin typeface="Calibri"/>
              </a:rPr>
              <a:t>Recompute, never accumulate: totals can't drift</a:t>
            </a:r>
          </a:p>
        </p:txBody>
      </p:sp>
      <p:sp>
        <p:nvSpPr>
          <p:cNvPr id="29" name="Rounded Rectangle 28"/>
          <p:cNvSpPr/>
          <p:nvPr/>
        </p:nvSpPr>
        <p:spPr>
          <a:xfrm>
            <a:off x="8066836" y="5303520"/>
            <a:ext cx="3576218" cy="7315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9716" y="5303520"/>
            <a:ext cx="3210458" cy="731520"/>
          </a:xfrm>
          <a:prstGeom prst="rect">
            <a:avLst/>
          </a:prstGeom>
          <a:noFill/>
        </p:spPr>
        <p:txBody>
          <a:bodyPr wrap="square" anchor="ctr" lIns="0" rIns="0" tIns="0" bIns="0">
            <a:spAutoFit/>
          </a:bodyPr>
          <a:lstStyle/>
          <a:p>
            <a:pPr algn="ctr">
              <a:lnSpc>
                <a:spcPct val="115000"/>
              </a:lnSpc>
            </a:pPr>
            <a:r>
              <a:rPr sz="1300" b="1">
                <a:solidFill>
                  <a:srgbClr val="F4F7FB"/>
                </a:solidFill>
                <a:latin typeface="Calibri"/>
              </a:rPr>
              <a:t>BEGIN IMMEDIATE + idempotency key: no double booking</a:t>
            </a:r>
          </a:p>
        </p:txBody>
      </p:sp>
      <p:sp>
        <p:nvSpPr>
          <p:cNvPr id="31" name="TextBox 30"/>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32" name="TextBox 31"/>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EXPECTED MVP — 24-HOUR HACKATHON</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Every MVP item, built and wired end to end</a:t>
            </a:r>
          </a:p>
        </p:txBody>
      </p:sp>
      <p:graphicFrame>
        <p:nvGraphicFramePr>
          <p:cNvPr id="4" name="Table 3"/>
          <p:cNvGraphicFramePr>
            <a:graphicFrameLocks noGrp="1"/>
          </p:cNvGraphicFramePr>
          <p:nvPr/>
        </p:nvGraphicFramePr>
        <p:xfrm>
          <a:off x="548640" y="1554480"/>
          <a:ext cx="11091672" cy="4078224"/>
        </p:xfrm>
        <a:graphic>
          <a:graphicData uri="http://schemas.openxmlformats.org/drawingml/2006/table">
            <a:tbl>
              <a:tblPr firstRow="1" bandRow="1">
                <a:tableStyleId>{5C22544A-7EE6-4342-B048-85BDC9FD1C3A}</a:tableStyleId>
              </a:tblPr>
              <a:tblGrid>
                <a:gridCol w="4572000"/>
                <a:gridCol w="5056632"/>
                <a:gridCol w="1463040"/>
              </a:tblGrid>
              <a:tr h="457200">
                <a:tc>
                  <a:txBody>
                    <a:bodyPr/>
                    <a:lstStyle/>
                    <a:p>
                      <a:r>
                        <a:rPr sz="1400" b="1">
                          <a:solidFill>
                            <a:srgbClr val="F4F7FB"/>
                          </a:solidFill>
                          <a:latin typeface="Calibri"/>
                        </a:rPr>
                        <a:t>PS-04 expects</a:t>
                      </a:r>
                    </a:p>
                  </a:txBody>
                  <a:tcPr>
                    <a:solidFill>
                      <a:srgbClr val="0B1F3A"/>
                    </a:solidFill>
                  </a:tcPr>
                </a:tc>
                <a:tc>
                  <a:txBody>
                    <a:bodyPr/>
                    <a:lstStyle/>
                    <a:p>
                      <a:r>
                        <a:rPr sz="1400" b="1">
                          <a:solidFill>
                            <a:srgbClr val="F4F7FB"/>
                          </a:solidFill>
                          <a:latin typeface="Calibri"/>
                        </a:rPr>
                        <a:t>What PackagePro does</a:t>
                      </a:r>
                    </a:p>
                  </a:txBody>
                  <a:tcPr>
                    <a:solidFill>
                      <a:srgbClr val="0B1F3A"/>
                    </a:solidFill>
                  </a:tcPr>
                </a:tc>
                <a:tc>
                  <a:txBody>
                    <a:bodyPr/>
                    <a:lstStyle/>
                    <a:p>
                      <a:r>
                        <a:rPr sz="1400" b="1">
                          <a:solidFill>
                            <a:srgbClr val="F4F7FB"/>
                          </a:solidFill>
                          <a:latin typeface="Calibri"/>
                        </a:rPr>
                        <a:t>Status</a:t>
                      </a:r>
                    </a:p>
                  </a:txBody>
                  <a:tcPr>
                    <a:solidFill>
                      <a:srgbClr val="0B1F3A"/>
                    </a:solidFill>
                  </a:tcPr>
                </a:tc>
              </a:tr>
              <a:tr h="603504">
                <a:tc>
                  <a:txBody>
                    <a:bodyPr/>
                    <a:lstStyle/>
                    <a:p>
                      <a:r>
                        <a:rPr sz="1300" b="1">
                          <a:solidFill>
                            <a:srgbClr val="0B1F3A"/>
                          </a:solidFill>
                          <a:latin typeface="Calibri"/>
                        </a:rPr>
                        <a:t>Package listing + ONE fully customisable package</a:t>
                      </a:r>
                    </a:p>
                  </a:txBody>
                  <a:tcPr anchor="ctr">
                    <a:solidFill>
                      <a:srgbClr val="FBFCFE"/>
                    </a:solidFill>
                  </a:tcPr>
                </a:tc>
                <a:tc>
                  <a:txBody>
                    <a:bodyPr/>
                    <a:lstStyle/>
                    <a:p>
                      <a:r>
                        <a:rPr sz="1300" b="0">
                          <a:solidFill>
                            <a:srgbClr val="3F4C63"/>
                          </a:solidFill>
                          <a:latin typeface="Calibri"/>
                        </a:rPr>
                        <a:t>45 curated packages by theme; any one opens fully customisable</a:t>
                      </a:r>
                    </a:p>
                  </a:txBody>
                  <a:tcPr anchor="ctr">
                    <a:solidFill>
                      <a:srgbClr val="FBFCFE"/>
                    </a:solidFill>
                  </a:tcPr>
                </a:tc>
                <a:tc>
                  <a:txBody>
                    <a:bodyPr/>
                    <a:lstStyle/>
                    <a:p>
                      <a:r>
                        <a:rPr sz="1300" b="1">
                          <a:solidFill>
                            <a:srgbClr val="0E8A5F"/>
                          </a:solidFill>
                          <a:latin typeface="Calibri"/>
                        </a:rPr>
                        <a:t>Built · MVP</a:t>
                      </a:r>
                    </a:p>
                  </a:txBody>
                  <a:tcPr anchor="ctr">
                    <a:solidFill>
                      <a:srgbClr val="FBFCFE"/>
                    </a:solidFill>
                  </a:tcPr>
                </a:tc>
              </a:tr>
              <a:tr h="603504">
                <a:tc>
                  <a:txBody>
                    <a:bodyPr/>
                    <a:lstStyle/>
                    <a:p>
                      <a:r>
                        <a:rPr sz="1300" b="1">
                          <a:solidFill>
                            <a:srgbClr val="0B1F3A"/>
                          </a:solidFill>
                          <a:latin typeface="Calibri"/>
                        </a:rPr>
                        <a:t>Swap hotel tier / activity / transfer / guide → itinerary and total update live</a:t>
                      </a:r>
                    </a:p>
                  </a:txBody>
                  <a:tcPr anchor="ctr">
                    <a:solidFill>
                      <a:srgbClr val="EEF3FA"/>
                    </a:solidFill>
                  </a:tcPr>
                </a:tc>
                <a:tc>
                  <a:txBody>
                    <a:bodyPr/>
                    <a:lstStyle/>
                    <a:p>
                      <a:r>
                        <a:rPr sz="1300" b="0">
                          <a:solidFill>
                            <a:srgbClr val="3F4C63"/>
                          </a:solidFill>
                          <a:latin typeface="Calibri"/>
                        </a:rPr>
                        <a:t>Same day and slot kept; total rebuilt from the whole plan in paise</a:t>
                      </a:r>
                    </a:p>
                  </a:txBody>
                  <a:tcPr anchor="ctr">
                    <a:solidFill>
                      <a:srgbClr val="EEF3FA"/>
                    </a:solidFill>
                  </a:tcPr>
                </a:tc>
                <a:tc>
                  <a:txBody>
                    <a:bodyPr/>
                    <a:lstStyle/>
                    <a:p>
                      <a:r>
                        <a:rPr sz="1300" b="1">
                          <a:solidFill>
                            <a:srgbClr val="0E8A5F"/>
                          </a:solidFill>
                          <a:latin typeface="Calibri"/>
                        </a:rPr>
                        <a:t>Built · MVP</a:t>
                      </a:r>
                    </a:p>
                  </a:txBody>
                  <a:tcPr anchor="ctr">
                    <a:solidFill>
                      <a:srgbClr val="EEF3FA"/>
                    </a:solidFill>
                  </a:tcPr>
                </a:tc>
              </a:tr>
              <a:tr h="603504">
                <a:tc>
                  <a:txBody>
                    <a:bodyPr/>
                    <a:lstStyle/>
                    <a:p>
                      <a:r>
                        <a:rPr sz="1300" b="1">
                          <a:solidFill>
                            <a:srgbClr val="0B1F3A"/>
                          </a:solidFill>
                          <a:latin typeface="Calibri"/>
                        </a:rPr>
                        <a:t>Guide as a component: language + specialisation + price</a:t>
                      </a:r>
                    </a:p>
                  </a:txBody>
                  <a:tcPr anchor="ctr">
                    <a:solidFill>
                      <a:srgbClr val="FBFCFE"/>
                    </a:solidFill>
                  </a:tcPr>
                </a:tc>
                <a:tc>
                  <a:txBody>
                    <a:bodyPr/>
                    <a:lstStyle/>
                    <a:p>
                      <a:r>
                        <a:rPr sz="1300" b="0">
                          <a:solidFill>
                            <a:srgbClr val="3F4C63"/>
                          </a:solidFill>
                          <a:latin typeface="Calibri"/>
                        </a:rPr>
                        <a:t>Guide planner grid; day rate × date multiplier added to the total</a:t>
                      </a:r>
                    </a:p>
                  </a:txBody>
                  <a:tcPr anchor="ctr">
                    <a:solidFill>
                      <a:srgbClr val="FBFCFE"/>
                    </a:solidFill>
                  </a:tcPr>
                </a:tc>
                <a:tc>
                  <a:txBody>
                    <a:bodyPr/>
                    <a:lstStyle/>
                    <a:p>
                      <a:r>
                        <a:rPr sz="1300" b="1">
                          <a:solidFill>
                            <a:srgbClr val="0E8A5F"/>
                          </a:solidFill>
                          <a:latin typeface="Calibri"/>
                        </a:rPr>
                        <a:t>Built · MVP</a:t>
                      </a:r>
                    </a:p>
                  </a:txBody>
                  <a:tcPr anchor="ctr">
                    <a:solidFill>
                      <a:srgbClr val="FBFCFE"/>
                    </a:solidFill>
                  </a:tcPr>
                </a:tc>
              </a:tr>
              <a:tr h="603504">
                <a:tc>
                  <a:txBody>
                    <a:bodyPr/>
                    <a:lstStyle/>
                    <a:p>
                      <a:r>
                        <a:rPr sz="1300" b="1">
                          <a:solidFill>
                            <a:srgbClr val="0B1F3A"/>
                          </a:solidFill>
                          <a:latin typeface="Calibri"/>
                        </a:rPr>
                        <a:t>Language preference changes packages, guides or content</a:t>
                      </a:r>
                    </a:p>
                  </a:txBody>
                  <a:tcPr anchor="ctr">
                    <a:solidFill>
                      <a:srgbClr val="EEF3FA"/>
                    </a:solidFill>
                  </a:tcPr>
                </a:tc>
                <a:tc>
                  <a:txBody>
                    <a:bodyPr/>
                    <a:lstStyle/>
                    <a:p>
                      <a:r>
                        <a:rPr sz="1300" b="0">
                          <a:solidFill>
                            <a:srgbClr val="3F4C63"/>
                          </a:solidFill>
                          <a:latin typeface="Calibri"/>
                        </a:rPr>
                        <a:t>Profile sets app + guide language; guides filtered; 4 app languages</a:t>
                      </a:r>
                    </a:p>
                  </a:txBody>
                  <a:tcPr anchor="ctr">
                    <a:solidFill>
                      <a:srgbClr val="EEF3FA"/>
                    </a:solidFill>
                  </a:tcPr>
                </a:tc>
                <a:tc>
                  <a:txBody>
                    <a:bodyPr/>
                    <a:lstStyle/>
                    <a:p>
                      <a:r>
                        <a:rPr sz="1300" b="1">
                          <a:solidFill>
                            <a:srgbClr val="0E8A5F"/>
                          </a:solidFill>
                          <a:latin typeface="Calibri"/>
                        </a:rPr>
                        <a:t>Built · MVP</a:t>
                      </a:r>
                    </a:p>
                  </a:txBody>
                  <a:tcPr anchor="ctr">
                    <a:solidFill>
                      <a:srgbClr val="EEF3FA"/>
                    </a:solidFill>
                  </a:tcPr>
                </a:tc>
              </a:tr>
              <a:tr h="603504">
                <a:tc>
                  <a:txBody>
                    <a:bodyPr/>
                    <a:lstStyle/>
                    <a:p>
                      <a:r>
                        <a:rPr sz="1300" b="1">
                          <a:solidFill>
                            <a:srgbClr val="0B1F3A"/>
                          </a:solidFill>
                          <a:latin typeface="Calibri"/>
                        </a:rPr>
                        <a:t>AI package-builder from free-text interests</a:t>
                      </a:r>
                    </a:p>
                  </a:txBody>
                  <a:tcPr anchor="ctr">
                    <a:solidFill>
                      <a:srgbClr val="FBFCFE"/>
                    </a:solidFill>
                  </a:tcPr>
                </a:tc>
                <a:tc>
                  <a:txBody>
                    <a:bodyPr/>
                    <a:lstStyle/>
                    <a:p>
                      <a:r>
                        <a:rPr sz="1300" b="0">
                          <a:solidFill>
                            <a:srgbClr val="3F4C63"/>
                          </a:solidFill>
                          <a:latin typeface="Calibri"/>
                        </a:rPr>
                        <a:t>Sarvam; interests + booking history; real catalogue IDs only</a:t>
                      </a:r>
                    </a:p>
                  </a:txBody>
                  <a:tcPr anchor="ctr">
                    <a:solidFill>
                      <a:srgbClr val="FBFCFE"/>
                    </a:solidFill>
                  </a:tcPr>
                </a:tc>
                <a:tc>
                  <a:txBody>
                    <a:bodyPr/>
                    <a:lstStyle/>
                    <a:p>
                      <a:r>
                        <a:rPr sz="1300" b="1">
                          <a:solidFill>
                            <a:srgbClr val="0E8A5F"/>
                          </a:solidFill>
                          <a:latin typeface="Calibri"/>
                        </a:rPr>
                        <a:t>Built · Stretch</a:t>
                      </a:r>
                    </a:p>
                  </a:txBody>
                  <a:tcPr anchor="ctr">
                    <a:solidFill>
                      <a:srgbClr val="FBFCFE"/>
                    </a:solidFill>
                  </a:tcPr>
                </a:tc>
              </a:tr>
              <a:tr h="603504">
                <a:tc>
                  <a:txBody>
                    <a:bodyPr/>
                    <a:lstStyle/>
                    <a:p>
                      <a:r>
                        <a:rPr sz="1300" b="1">
                          <a:solidFill>
                            <a:srgbClr val="0B1F3A"/>
                          </a:solidFill>
                          <a:latin typeface="Calibri"/>
                        </a:rPr>
                        <a:t>Save / share; full multilingual content</a:t>
                      </a:r>
                    </a:p>
                  </a:txBody>
                  <a:tcPr anchor="ctr">
                    <a:solidFill>
                      <a:srgbClr val="EEF3FA"/>
                    </a:solidFill>
                  </a:tcPr>
                </a:tc>
                <a:tc>
                  <a:txBody>
                    <a:bodyPr/>
                    <a:lstStyle/>
                    <a:p>
                      <a:r>
                        <a:rPr sz="1300" b="0">
                          <a:solidFill>
                            <a:srgbClr val="3F4C63"/>
                          </a:solidFill>
                          <a:latin typeface="Calibri"/>
                        </a:rPr>
                        <a:t>Drafts, share links, PDF quotation, Telegram; 4-language copy</a:t>
                      </a:r>
                    </a:p>
                  </a:txBody>
                  <a:tcPr anchor="ctr">
                    <a:solidFill>
                      <a:srgbClr val="EEF3FA"/>
                    </a:solidFill>
                  </a:tcPr>
                </a:tc>
                <a:tc>
                  <a:txBody>
                    <a:bodyPr/>
                    <a:lstStyle/>
                    <a:p>
                      <a:r>
                        <a:rPr sz="1300" b="1">
                          <a:solidFill>
                            <a:srgbClr val="0E8A5F"/>
                          </a:solidFill>
                          <a:latin typeface="Calibri"/>
                        </a:rPr>
                        <a:t>Built · Stretch</a:t>
                      </a:r>
                    </a:p>
                  </a:txBody>
                  <a:tcPr anchor="ctr">
                    <a:solidFill>
                      <a:srgbClr val="EEF3FA"/>
                    </a:solidFill>
                  </a:tcPr>
                </a:tc>
              </a:tr>
            </a:tbl>
          </a:graphicData>
        </a:graphic>
      </p:graphicFrame>
      <p:sp>
        <p:nvSpPr>
          <p:cNvPr id="5" name="TextBox 4"/>
          <p:cNvSpPr txBox="1"/>
          <p:nvPr/>
        </p:nvSpPr>
        <p:spPr>
          <a:xfrm>
            <a:off x="548640" y="5943600"/>
            <a:ext cx="11094415" cy="32004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Boundary rules enforced in the backend with tests: group size (min–max), BCP-47 languages, INR only, guide capacity, idempotent booking.</a:t>
            </a:r>
          </a:p>
        </p:txBody>
      </p:sp>
      <p:sp>
        <p:nvSpPr>
          <p:cNvPr id="6" name="TextBox 5"/>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7" name="TextBox 6"/>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MANDATORY ENHANCEMENT</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F4F7FB"/>
                </a:solidFill>
                <a:latin typeface="Calibri"/>
              </a:rPr>
              <a:t>Guide Availability Check — never a static dropdown</a:t>
            </a:r>
          </a:p>
        </p:txBody>
      </p:sp>
      <p:sp>
        <p:nvSpPr>
          <p:cNvPr id="4" name="Oval 3"/>
          <p:cNvSpPr/>
          <p:nvPr/>
        </p:nvSpPr>
        <p:spPr>
          <a:xfrm>
            <a:off x="548640" y="1572768"/>
            <a:ext cx="475488" cy="475488"/>
          </a:xfrm>
          <a:prstGeom prst="ellipse">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72768"/>
            <a:ext cx="475488" cy="475488"/>
          </a:xfrm>
          <a:prstGeom prst="rect">
            <a:avLst/>
          </a:prstGeom>
          <a:noFill/>
        </p:spPr>
        <p:txBody>
          <a:bodyPr wrap="square" anchor="ctr" lIns="0" rIns="0" tIns="0" bIns="0">
            <a:spAutoFit/>
          </a:bodyPr>
          <a:lstStyle/>
          <a:p>
            <a:pPr algn="ctr">
              <a:lnSpc>
                <a:spcPct val="115000"/>
              </a:lnSpc>
            </a:pPr>
            <a:r>
              <a:rPr sz="1600" b="1">
                <a:solidFill>
                  <a:srgbClr val="0B1F3A"/>
                </a:solidFill>
                <a:latin typeface="Calibri"/>
              </a:rPr>
              <a:t>1</a:t>
            </a:r>
          </a:p>
        </p:txBody>
      </p:sp>
      <p:sp>
        <p:nvSpPr>
          <p:cNvPr id="6" name="TextBox 5"/>
          <p:cNvSpPr txBox="1"/>
          <p:nvPr/>
        </p:nvSpPr>
        <p:spPr>
          <a:xfrm>
            <a:off x="1234440" y="1554480"/>
            <a:ext cx="4846320" cy="320040"/>
          </a:xfrm>
          <a:prstGeom prst="rect">
            <a:avLst/>
          </a:prstGeom>
          <a:noFill/>
        </p:spPr>
        <p:txBody>
          <a:bodyPr wrap="square" anchor="t" lIns="0" rIns="0" tIns="0" bIns="0">
            <a:spAutoFit/>
          </a:bodyPr>
          <a:lstStyle/>
          <a:p>
            <a:pPr algn="l">
              <a:lnSpc>
                <a:spcPct val="115000"/>
              </a:lnSpc>
            </a:pPr>
            <a:r>
              <a:rPr sz="1700" b="1">
                <a:solidFill>
                  <a:srgbClr val="F4F7FB"/>
                </a:solidFill>
                <a:latin typeface="Calibri"/>
              </a:rPr>
              <a:t>Add a guide</a:t>
            </a:r>
          </a:p>
        </p:txBody>
      </p:sp>
      <p:sp>
        <p:nvSpPr>
          <p:cNvPr id="7" name="TextBox 6"/>
          <p:cNvSpPr txBox="1"/>
          <p:nvPr/>
        </p:nvSpPr>
        <p:spPr>
          <a:xfrm>
            <a:off x="1234440" y="1874519"/>
            <a:ext cx="4846320" cy="502920"/>
          </a:xfrm>
          <a:prstGeom prst="rect">
            <a:avLst/>
          </a:prstGeom>
          <a:noFill/>
        </p:spPr>
        <p:txBody>
          <a:bodyPr wrap="square" anchor="t" lIns="0" rIns="0" tIns="0" bIns="0">
            <a:spAutoFit/>
          </a:bodyPr>
          <a:lstStyle/>
          <a:p>
            <a:pPr algn="l">
              <a:lnSpc>
                <a:spcPct val="110000"/>
              </a:lnSpc>
            </a:pPr>
            <a:r>
              <a:rPr sz="1200" b="0">
                <a:solidFill>
                  <a:srgbClr val="BFD0E6"/>
                </a:solidFill>
                <a:latin typeface="Calibri"/>
              </a:rPr>
              <a:t>to a package with real trip dates</a:t>
            </a:r>
          </a:p>
        </p:txBody>
      </p:sp>
      <p:sp>
        <p:nvSpPr>
          <p:cNvPr id="8" name="Oval 7"/>
          <p:cNvSpPr/>
          <p:nvPr/>
        </p:nvSpPr>
        <p:spPr>
          <a:xfrm>
            <a:off x="548640" y="2423160"/>
            <a:ext cx="475488" cy="475488"/>
          </a:xfrm>
          <a:prstGeom prst="ellipse">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23160"/>
            <a:ext cx="475488" cy="475488"/>
          </a:xfrm>
          <a:prstGeom prst="rect">
            <a:avLst/>
          </a:prstGeom>
          <a:noFill/>
        </p:spPr>
        <p:txBody>
          <a:bodyPr wrap="square" anchor="ctr" lIns="0" rIns="0" tIns="0" bIns="0">
            <a:spAutoFit/>
          </a:bodyPr>
          <a:lstStyle/>
          <a:p>
            <a:pPr algn="ctr">
              <a:lnSpc>
                <a:spcPct val="115000"/>
              </a:lnSpc>
            </a:pPr>
            <a:r>
              <a:rPr sz="1600" b="1">
                <a:solidFill>
                  <a:srgbClr val="0B1F3A"/>
                </a:solidFill>
                <a:latin typeface="Calibri"/>
              </a:rPr>
              <a:t>2</a:t>
            </a:r>
          </a:p>
        </p:txBody>
      </p:sp>
      <p:sp>
        <p:nvSpPr>
          <p:cNvPr id="10" name="TextBox 9"/>
          <p:cNvSpPr txBox="1"/>
          <p:nvPr/>
        </p:nvSpPr>
        <p:spPr>
          <a:xfrm>
            <a:off x="1234440" y="2404872"/>
            <a:ext cx="4846320" cy="320040"/>
          </a:xfrm>
          <a:prstGeom prst="rect">
            <a:avLst/>
          </a:prstGeom>
          <a:noFill/>
        </p:spPr>
        <p:txBody>
          <a:bodyPr wrap="square" anchor="t" lIns="0" rIns="0" tIns="0" bIns="0">
            <a:spAutoFit/>
          </a:bodyPr>
          <a:lstStyle/>
          <a:p>
            <a:pPr algn="l">
              <a:lnSpc>
                <a:spcPct val="115000"/>
              </a:lnSpc>
            </a:pPr>
            <a:r>
              <a:rPr sz="1700" b="1">
                <a:solidFill>
                  <a:srgbClr val="F4F7FB"/>
                </a:solidFill>
                <a:latin typeface="Calibri"/>
              </a:rPr>
              <a:t>Check every date</a:t>
            </a:r>
          </a:p>
        </p:txBody>
      </p:sp>
      <p:sp>
        <p:nvSpPr>
          <p:cNvPr id="11" name="TextBox 10"/>
          <p:cNvSpPr txBox="1"/>
          <p:nvPr/>
        </p:nvSpPr>
        <p:spPr>
          <a:xfrm>
            <a:off x="1234440" y="2724912"/>
            <a:ext cx="4846320" cy="502920"/>
          </a:xfrm>
          <a:prstGeom prst="rect">
            <a:avLst/>
          </a:prstGeom>
          <a:noFill/>
        </p:spPr>
        <p:txBody>
          <a:bodyPr wrap="square" anchor="t" lIns="0" rIns="0" tIns="0" bIns="0">
            <a:spAutoFit/>
          </a:bodyPr>
          <a:lstStyle/>
          <a:p>
            <a:pPr algn="l">
              <a:lnSpc>
                <a:spcPct val="110000"/>
              </a:lnSpc>
            </a:pPr>
            <a:r>
              <a:rPr sz="1200" b="0">
                <a:solidFill>
                  <a:srgbClr val="BFD0E6"/>
                </a:solidFill>
                <a:latin typeface="Calibri"/>
              </a:rPr>
              <a:t>is_available = 1 and slots_available − confirmed bookings &gt; 0</a:t>
            </a:r>
          </a:p>
        </p:txBody>
      </p:sp>
      <p:sp>
        <p:nvSpPr>
          <p:cNvPr id="12" name="Oval 11"/>
          <p:cNvSpPr/>
          <p:nvPr/>
        </p:nvSpPr>
        <p:spPr>
          <a:xfrm>
            <a:off x="548640" y="3273552"/>
            <a:ext cx="475488" cy="475488"/>
          </a:xfrm>
          <a:prstGeom prst="ellipse">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73552"/>
            <a:ext cx="475488" cy="475488"/>
          </a:xfrm>
          <a:prstGeom prst="rect">
            <a:avLst/>
          </a:prstGeom>
          <a:noFill/>
        </p:spPr>
        <p:txBody>
          <a:bodyPr wrap="square" anchor="ctr" lIns="0" rIns="0" tIns="0" bIns="0">
            <a:spAutoFit/>
          </a:bodyPr>
          <a:lstStyle/>
          <a:p>
            <a:pPr algn="ctr">
              <a:lnSpc>
                <a:spcPct val="115000"/>
              </a:lnSpc>
            </a:pPr>
            <a:r>
              <a:rPr sz="1600" b="1">
                <a:solidFill>
                  <a:srgbClr val="0B1F3A"/>
                </a:solidFill>
                <a:latin typeface="Calibri"/>
              </a:rPr>
              <a:t>3</a:t>
            </a:r>
          </a:p>
        </p:txBody>
      </p:sp>
      <p:sp>
        <p:nvSpPr>
          <p:cNvPr id="14" name="TextBox 13"/>
          <p:cNvSpPr txBox="1"/>
          <p:nvPr/>
        </p:nvSpPr>
        <p:spPr>
          <a:xfrm>
            <a:off x="1234440" y="3255264"/>
            <a:ext cx="4846320" cy="320040"/>
          </a:xfrm>
          <a:prstGeom prst="rect">
            <a:avLst/>
          </a:prstGeom>
          <a:noFill/>
        </p:spPr>
        <p:txBody>
          <a:bodyPr wrap="square" anchor="t" lIns="0" rIns="0" tIns="0" bIns="0">
            <a:spAutoFit/>
          </a:bodyPr>
          <a:lstStyle/>
          <a:p>
            <a:pPr algn="l">
              <a:lnSpc>
                <a:spcPct val="115000"/>
              </a:lnSpc>
            </a:pPr>
            <a:r>
              <a:rPr sz="1700" b="1">
                <a:solidFill>
                  <a:srgbClr val="F4F7FB"/>
                </a:solidFill>
                <a:latin typeface="Calibri"/>
              </a:rPr>
              <a:t>Refuse on a clash</a:t>
            </a:r>
          </a:p>
        </p:txBody>
      </p:sp>
      <p:sp>
        <p:nvSpPr>
          <p:cNvPr id="15" name="TextBox 14"/>
          <p:cNvSpPr txBox="1"/>
          <p:nvPr/>
        </p:nvSpPr>
        <p:spPr>
          <a:xfrm>
            <a:off x="1234440" y="3575304"/>
            <a:ext cx="4846320" cy="502920"/>
          </a:xfrm>
          <a:prstGeom prst="rect">
            <a:avLst/>
          </a:prstGeom>
          <a:noFill/>
        </p:spPr>
        <p:txBody>
          <a:bodyPr wrap="square" anchor="t" lIns="0" rIns="0" tIns="0" bIns="0">
            <a:spAutoFit/>
          </a:bodyPr>
          <a:lstStyle/>
          <a:p>
            <a:pPr algn="l">
              <a:lnSpc>
                <a:spcPct val="110000"/>
              </a:lnSpc>
            </a:pPr>
            <a:r>
              <a:rPr sz="1200" b="0">
                <a:solidFill>
                  <a:srgbClr val="BFD0E6"/>
                </a:solidFill>
                <a:latin typeface="Calibri"/>
              </a:rPr>
              <a:t>the clashing date is named: Meera Novak, 28 Sept</a:t>
            </a:r>
          </a:p>
        </p:txBody>
      </p:sp>
      <p:sp>
        <p:nvSpPr>
          <p:cNvPr id="16" name="Oval 15"/>
          <p:cNvSpPr/>
          <p:nvPr/>
        </p:nvSpPr>
        <p:spPr>
          <a:xfrm>
            <a:off x="548640" y="4123944"/>
            <a:ext cx="475488" cy="475488"/>
          </a:xfrm>
          <a:prstGeom prst="ellipse">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23944"/>
            <a:ext cx="475488" cy="475488"/>
          </a:xfrm>
          <a:prstGeom prst="rect">
            <a:avLst/>
          </a:prstGeom>
          <a:noFill/>
        </p:spPr>
        <p:txBody>
          <a:bodyPr wrap="square" anchor="ctr" lIns="0" rIns="0" tIns="0" bIns="0">
            <a:spAutoFit/>
          </a:bodyPr>
          <a:lstStyle/>
          <a:p>
            <a:pPr algn="ctr">
              <a:lnSpc>
                <a:spcPct val="115000"/>
              </a:lnSpc>
            </a:pPr>
            <a:r>
              <a:rPr sz="1600" b="1">
                <a:solidFill>
                  <a:srgbClr val="0B1F3A"/>
                </a:solidFill>
                <a:latin typeface="Calibri"/>
              </a:rPr>
              <a:t>4</a:t>
            </a:r>
          </a:p>
        </p:txBody>
      </p:sp>
      <p:sp>
        <p:nvSpPr>
          <p:cNvPr id="18" name="TextBox 17"/>
          <p:cNvSpPr txBox="1"/>
          <p:nvPr/>
        </p:nvSpPr>
        <p:spPr>
          <a:xfrm>
            <a:off x="1234440" y="4105656"/>
            <a:ext cx="4846320" cy="320040"/>
          </a:xfrm>
          <a:prstGeom prst="rect">
            <a:avLst/>
          </a:prstGeom>
          <a:noFill/>
        </p:spPr>
        <p:txBody>
          <a:bodyPr wrap="square" anchor="t" lIns="0" rIns="0" tIns="0" bIns="0">
            <a:spAutoFit/>
          </a:bodyPr>
          <a:lstStyle/>
          <a:p>
            <a:pPr algn="l">
              <a:lnSpc>
                <a:spcPct val="115000"/>
              </a:lnSpc>
            </a:pPr>
            <a:r>
              <a:rPr sz="1700" b="1">
                <a:solidFill>
                  <a:srgbClr val="F4F7FB"/>
                </a:solidFill>
                <a:latin typeface="Calibri"/>
              </a:rPr>
              <a:t>Offer the nearest substitute</a:t>
            </a:r>
          </a:p>
        </p:txBody>
      </p:sp>
      <p:sp>
        <p:nvSpPr>
          <p:cNvPr id="19" name="TextBox 18"/>
          <p:cNvSpPr txBox="1"/>
          <p:nvPr/>
        </p:nvSpPr>
        <p:spPr>
          <a:xfrm>
            <a:off x="1234440" y="4425696"/>
            <a:ext cx="4846320" cy="502920"/>
          </a:xfrm>
          <a:prstGeom prst="rect">
            <a:avLst/>
          </a:prstGeom>
          <a:noFill/>
        </p:spPr>
        <p:txBody>
          <a:bodyPr wrap="square" anchor="t" lIns="0" rIns="0" tIns="0" bIns="0">
            <a:spAutoFit/>
          </a:bodyPr>
          <a:lstStyle/>
          <a:p>
            <a:pPr algn="l">
              <a:lnSpc>
                <a:spcPct val="110000"/>
              </a:lnSpc>
            </a:pPr>
            <a:r>
              <a:rPr sz="1200" b="0">
                <a:solidFill>
                  <a:srgbClr val="BFD0E6"/>
                </a:solidFill>
                <a:latin typeface="Calibri"/>
              </a:rPr>
              <a:t>same language + specialisation, free on every date, nearest (≤ 400 km), then smallest price change</a:t>
            </a:r>
          </a:p>
        </p:txBody>
      </p:sp>
      <p:sp>
        <p:nvSpPr>
          <p:cNvPr id="20" name="Oval 19"/>
          <p:cNvSpPr/>
          <p:nvPr/>
        </p:nvSpPr>
        <p:spPr>
          <a:xfrm>
            <a:off x="548640" y="4974336"/>
            <a:ext cx="475488" cy="475488"/>
          </a:xfrm>
          <a:prstGeom prst="ellipse">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974336"/>
            <a:ext cx="475488" cy="475488"/>
          </a:xfrm>
          <a:prstGeom prst="rect">
            <a:avLst/>
          </a:prstGeom>
          <a:noFill/>
        </p:spPr>
        <p:txBody>
          <a:bodyPr wrap="square" anchor="ctr" lIns="0" rIns="0" tIns="0" bIns="0">
            <a:spAutoFit/>
          </a:bodyPr>
          <a:lstStyle/>
          <a:p>
            <a:pPr algn="ctr">
              <a:lnSpc>
                <a:spcPct val="115000"/>
              </a:lnSpc>
            </a:pPr>
            <a:r>
              <a:rPr sz="1600" b="1">
                <a:solidFill>
                  <a:srgbClr val="0B1F3A"/>
                </a:solidFill>
                <a:latin typeface="Calibri"/>
              </a:rPr>
              <a:t>5</a:t>
            </a:r>
          </a:p>
        </p:txBody>
      </p:sp>
      <p:sp>
        <p:nvSpPr>
          <p:cNvPr id="22" name="TextBox 21"/>
          <p:cNvSpPr txBox="1"/>
          <p:nvPr/>
        </p:nvSpPr>
        <p:spPr>
          <a:xfrm>
            <a:off x="1234440" y="4956048"/>
            <a:ext cx="4846320" cy="320040"/>
          </a:xfrm>
          <a:prstGeom prst="rect">
            <a:avLst/>
          </a:prstGeom>
          <a:noFill/>
        </p:spPr>
        <p:txBody>
          <a:bodyPr wrap="square" anchor="t" lIns="0" rIns="0" tIns="0" bIns="0">
            <a:spAutoFit/>
          </a:bodyPr>
          <a:lstStyle/>
          <a:p>
            <a:pPr algn="l">
              <a:lnSpc>
                <a:spcPct val="115000"/>
              </a:lnSpc>
            </a:pPr>
            <a:r>
              <a:rPr sz="1700" b="1">
                <a:solidFill>
                  <a:srgbClr val="F4F7FB"/>
                </a:solidFill>
                <a:latin typeface="Calibri"/>
              </a:rPr>
              <a:t>Reprice live</a:t>
            </a:r>
          </a:p>
        </p:txBody>
      </p:sp>
      <p:sp>
        <p:nvSpPr>
          <p:cNvPr id="23" name="TextBox 22"/>
          <p:cNvSpPr txBox="1"/>
          <p:nvPr/>
        </p:nvSpPr>
        <p:spPr>
          <a:xfrm>
            <a:off x="1234440" y="5276088"/>
            <a:ext cx="4846320" cy="502920"/>
          </a:xfrm>
          <a:prstGeom prst="rect">
            <a:avLst/>
          </a:prstGeom>
          <a:noFill/>
        </p:spPr>
        <p:txBody>
          <a:bodyPr wrap="square" anchor="t" lIns="0" rIns="0" tIns="0" bIns="0">
            <a:spAutoFit/>
          </a:bodyPr>
          <a:lstStyle/>
          <a:p>
            <a:pPr algn="l">
              <a:lnSpc>
                <a:spcPct val="110000"/>
              </a:lnSpc>
            </a:pPr>
            <a:r>
              <a:rPr sz="1200" b="0">
                <a:solidFill>
                  <a:srgbClr val="BFD0E6"/>
                </a:solidFill>
                <a:latin typeface="Calibri"/>
              </a:rPr>
              <a:t>Arjun Nair −₹11,160 vs Meera → new total shown; re-checked inside the booking transaction</a:t>
            </a:r>
          </a:p>
        </p:txBody>
      </p:sp>
      <p:sp>
        <p:nvSpPr>
          <p:cNvPr id="24" name="TextBox 23"/>
          <p:cNvSpPr txBox="1"/>
          <p:nvPr/>
        </p:nvSpPr>
        <p:spPr>
          <a:xfrm>
            <a:off x="548640" y="5897880"/>
            <a:ext cx="5486400" cy="411480"/>
          </a:xfrm>
          <a:prstGeom prst="rect">
            <a:avLst/>
          </a:prstGeom>
          <a:noFill/>
        </p:spPr>
        <p:txBody>
          <a:bodyPr wrap="square" anchor="t" lIns="0" rIns="0" tIns="0" bIns="0">
            <a:spAutoFit/>
          </a:bodyPr>
          <a:lstStyle/>
          <a:p>
            <a:pPr algn="l">
              <a:lnSpc>
                <a:spcPct val="115000"/>
              </a:lnSpc>
            </a:pPr>
            <a:r>
              <a:rPr sz="1100" b="1">
                <a:solidFill>
                  <a:srgbClr val="F59E5B"/>
                </a:solidFill>
                <a:latin typeface="Calibri"/>
              </a:rPr>
              <a:t>Proof  </a:t>
            </a:r>
            <a:r>
              <a:rPr sz="1100" b="0">
                <a:solidFill>
                  <a:srgbClr val="BFD0E6"/>
                </a:solidFill>
                <a:latin typeface="Calibri"/>
              </a:rPr>
              <a:t>tests/hardProof.guideAvailability.test.ts · same rule on web and Telegram · or book a guide only on the free days</a:t>
            </a:r>
          </a:p>
        </p:txBody>
      </p:sp>
      <p:sp>
        <p:nvSpPr>
          <p:cNvPr id="25" name="Rounded Rectangle 24"/>
          <p:cNvSpPr/>
          <p:nvPr/>
        </p:nvSpPr>
        <p:spPr>
          <a:xfrm>
            <a:off x="6458407" y="1618488"/>
            <a:ext cx="5232806" cy="4736592"/>
          </a:xfrm>
          <a:prstGeom prst="roundRect">
            <a:avLst>
              <a:gd name="adj" fmla="val 2000"/>
            </a:avLst>
          </a:prstGeom>
          <a:solidFill>
            <a:srgbClr val="081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pp-guide.png"/>
          <p:cNvPicPr>
            <a:picLocks noChangeAspect="1"/>
          </p:cNvPicPr>
          <p:nvPr/>
        </p:nvPicPr>
        <p:blipFill>
          <a:blip r:embed="rId2"/>
          <a:stretch>
            <a:fillRect/>
          </a:stretch>
        </p:blipFill>
        <p:spPr>
          <a:xfrm>
            <a:off x="6412687" y="1554480"/>
            <a:ext cx="5232806" cy="4736592"/>
          </a:xfrm>
          <a:prstGeom prst="rect">
            <a:avLst/>
          </a:prstGeom>
          <a:ln w="12700">
            <a:solidFill>
              <a:srgbClr val="22406B"/>
            </a:solidFill>
          </a:ln>
        </p:spPr>
      </p:pic>
      <p:sp>
        <p:nvSpPr>
          <p:cNvPr id="27" name="TextBox 26"/>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BFD0E6"/>
                </a:solidFill>
                <a:latin typeface="Calibri"/>
              </a:rPr>
              <a:t>PackagePro · PS-04 Dynamic Tour Packages · Team RNG Gods</a:t>
            </a:r>
          </a:p>
        </p:txBody>
      </p:sp>
      <p:sp>
        <p:nvSpPr>
          <p:cNvPr id="28" name="TextBox 27"/>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BFD0E6"/>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CUSTOMISATION</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Swaps that keep their place, suggestions that fit the budget</a:t>
            </a:r>
          </a:p>
        </p:txBody>
      </p:sp>
      <p:sp>
        <p:nvSpPr>
          <p:cNvPr id="4" name="Rounded Rectangle 3"/>
          <p:cNvSpPr/>
          <p:nvPr/>
        </p:nvSpPr>
        <p:spPr>
          <a:xfrm>
            <a:off x="594360" y="1618488"/>
            <a:ext cx="5318417" cy="4663440"/>
          </a:xfrm>
          <a:prstGeom prst="roundRect">
            <a:avLst>
              <a:gd name="adj" fmla="val 2000"/>
            </a:avLst>
          </a:prstGeom>
          <a:solidFill>
            <a:srgbClr val="E1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swap.png"/>
          <p:cNvPicPr>
            <a:picLocks noChangeAspect="1"/>
          </p:cNvPicPr>
          <p:nvPr/>
        </p:nvPicPr>
        <p:blipFill>
          <a:blip r:embed="rId2"/>
          <a:stretch>
            <a:fillRect/>
          </a:stretch>
        </p:blipFill>
        <p:spPr>
          <a:xfrm>
            <a:off x="548640" y="1554480"/>
            <a:ext cx="5318417" cy="4663440"/>
          </a:xfrm>
          <a:prstGeom prst="rect">
            <a:avLst/>
          </a:prstGeom>
          <a:ln w="12700">
            <a:solidFill>
              <a:srgbClr val="DCE3EE"/>
            </a:solidFill>
          </a:ln>
        </p:spPr>
      </p:pic>
      <p:sp>
        <p:nvSpPr>
          <p:cNvPr id="6" name="Rounded Rectangle 5"/>
          <p:cNvSpPr/>
          <p:nvPr/>
        </p:nvSpPr>
        <p:spPr>
          <a:xfrm>
            <a:off x="6324257" y="1618488"/>
            <a:ext cx="5364517" cy="2312292"/>
          </a:xfrm>
          <a:prstGeom prst="roundRect">
            <a:avLst>
              <a:gd name="adj" fmla="val 2000"/>
            </a:avLst>
          </a:prstGeom>
          <a:solidFill>
            <a:srgbClr val="E1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reco.png"/>
          <p:cNvPicPr>
            <a:picLocks noChangeAspect="1"/>
          </p:cNvPicPr>
          <p:nvPr/>
        </p:nvPicPr>
        <p:blipFill>
          <a:blip r:embed="rId3"/>
          <a:stretch>
            <a:fillRect/>
          </a:stretch>
        </p:blipFill>
        <p:spPr>
          <a:xfrm>
            <a:off x="6278537" y="1554480"/>
            <a:ext cx="5364517" cy="2312292"/>
          </a:xfrm>
          <a:prstGeom prst="rect">
            <a:avLst/>
          </a:prstGeom>
          <a:ln w="12700">
            <a:solidFill>
              <a:srgbClr val="DCE3EE"/>
            </a:solidFill>
          </a:ln>
        </p:spPr>
      </p:pic>
      <p:sp>
        <p:nvSpPr>
          <p:cNvPr id="8" name="Oval 7"/>
          <p:cNvSpPr/>
          <p:nvPr/>
        </p:nvSpPr>
        <p:spPr>
          <a:xfrm>
            <a:off x="6278537" y="4205100"/>
            <a:ext cx="109728" cy="109728"/>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4569" y="4141092"/>
            <a:ext cx="5090197" cy="566928"/>
          </a:xfrm>
          <a:prstGeom prst="rect">
            <a:avLst/>
          </a:prstGeom>
          <a:noFill/>
        </p:spPr>
        <p:txBody>
          <a:bodyPr wrap="square" anchor="t" lIns="0" rIns="0" tIns="0" bIns="0">
            <a:spAutoFit/>
          </a:bodyPr>
          <a:lstStyle/>
          <a:p>
            <a:pPr algn="l">
              <a:lnSpc>
                <a:spcPct val="110000"/>
              </a:lnSpc>
            </a:pPr>
            <a:r>
              <a:rPr sz="1200" b="1">
                <a:solidFill>
                  <a:srgbClr val="0B1F3A"/>
                </a:solidFill>
                <a:latin typeface="Calibri"/>
              </a:rPr>
              <a:t>Every option priced on the whole trip  </a:t>
            </a:r>
            <a:r>
              <a:rPr sz="1200" b="0">
                <a:solidFill>
                  <a:srgbClr val="3F4C63"/>
                </a:solidFill>
                <a:latin typeface="Calibri"/>
              </a:rPr>
              <a:t>current choice, cheapest and top-rated tagged; new total and 'fits budget' on each</a:t>
            </a:r>
          </a:p>
        </p:txBody>
      </p:sp>
      <p:sp>
        <p:nvSpPr>
          <p:cNvPr id="10" name="Oval 9"/>
          <p:cNvSpPr/>
          <p:nvPr/>
        </p:nvSpPr>
        <p:spPr>
          <a:xfrm>
            <a:off x="6278537" y="4808604"/>
            <a:ext cx="109728" cy="109728"/>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4569" y="4744596"/>
            <a:ext cx="5090197" cy="566928"/>
          </a:xfrm>
          <a:prstGeom prst="rect">
            <a:avLst/>
          </a:prstGeom>
          <a:noFill/>
        </p:spPr>
        <p:txBody>
          <a:bodyPr wrap="square" anchor="t" lIns="0" rIns="0" tIns="0" bIns="0">
            <a:spAutoFit/>
          </a:bodyPr>
          <a:lstStyle/>
          <a:p>
            <a:pPr algn="l">
              <a:lnSpc>
                <a:spcPct val="110000"/>
              </a:lnSpc>
            </a:pPr>
            <a:r>
              <a:rPr sz="1200" b="1">
                <a:solidFill>
                  <a:srgbClr val="0B1F3A"/>
                </a:solidFill>
                <a:latin typeface="Calibri"/>
              </a:rPr>
              <a:t>Context kept  </a:t>
            </a:r>
            <a:r>
              <a:rPr sz="1200" b="0">
                <a:solidFill>
                  <a:srgbClr val="3F4C63"/>
                </a:solidFill>
                <a:latin typeface="Calibri"/>
              </a:rPr>
              <a:t>a swap takes the same day and slot; transfers start where you arrive</a:t>
            </a:r>
          </a:p>
        </p:txBody>
      </p:sp>
      <p:sp>
        <p:nvSpPr>
          <p:cNvPr id="12" name="Oval 11"/>
          <p:cNvSpPr/>
          <p:nvPr/>
        </p:nvSpPr>
        <p:spPr>
          <a:xfrm>
            <a:off x="6278537" y="5412108"/>
            <a:ext cx="109728" cy="109728"/>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4569" y="5348100"/>
            <a:ext cx="5090197" cy="566928"/>
          </a:xfrm>
          <a:prstGeom prst="rect">
            <a:avLst/>
          </a:prstGeom>
          <a:noFill/>
        </p:spPr>
        <p:txBody>
          <a:bodyPr wrap="square" anchor="t" lIns="0" rIns="0" tIns="0" bIns="0">
            <a:spAutoFit/>
          </a:bodyPr>
          <a:lstStyle/>
          <a:p>
            <a:pPr algn="l">
              <a:lnSpc>
                <a:spcPct val="110000"/>
              </a:lnSpc>
            </a:pPr>
            <a:r>
              <a:rPr sz="1200" b="1">
                <a:solidFill>
                  <a:srgbClr val="0B1F3A"/>
                </a:solidFill>
                <a:latin typeface="Calibri"/>
              </a:rPr>
              <a:t>Recommended for your plan  </a:t>
            </a:r>
            <a:r>
              <a:rPr sz="1200" b="0">
                <a:solidFill>
                  <a:srgbClr val="3F4C63"/>
                </a:solidFill>
                <a:latin typeface="Calibri"/>
              </a:rPr>
              <a:t>upgrades that still fit — or, over budget, the fixes that bring you back</a:t>
            </a:r>
          </a:p>
        </p:txBody>
      </p:sp>
      <p:sp>
        <p:nvSpPr>
          <p:cNvPr id="14" name="Oval 13"/>
          <p:cNvSpPr/>
          <p:nvPr/>
        </p:nvSpPr>
        <p:spPr>
          <a:xfrm>
            <a:off x="6278537" y="6015612"/>
            <a:ext cx="109728" cy="109728"/>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4569" y="5951604"/>
            <a:ext cx="5090197" cy="566928"/>
          </a:xfrm>
          <a:prstGeom prst="rect">
            <a:avLst/>
          </a:prstGeom>
          <a:noFill/>
        </p:spPr>
        <p:txBody>
          <a:bodyPr wrap="square" anchor="t" lIns="0" rIns="0" tIns="0" bIns="0">
            <a:spAutoFit/>
          </a:bodyPr>
          <a:lstStyle/>
          <a:p>
            <a:pPr algn="l">
              <a:lnSpc>
                <a:spcPct val="110000"/>
              </a:lnSpc>
            </a:pPr>
            <a:r>
              <a:rPr sz="1200" b="1">
                <a:solidFill>
                  <a:srgbClr val="0B1F3A"/>
                </a:solidFill>
                <a:latin typeface="Calibri"/>
              </a:rPr>
              <a:t>Undo · Discard changes  </a:t>
            </a:r>
            <a:r>
              <a:rPr sz="1200" b="0">
                <a:solidFill>
                  <a:srgbClr val="3F4C63"/>
                </a:solidFill>
                <a:latin typeface="Calibri"/>
              </a:rPr>
              <a:t>one tap back to the last plan or to the recommended package</a:t>
            </a:r>
          </a:p>
        </p:txBody>
      </p:sp>
      <p:sp>
        <p:nvSpPr>
          <p:cNvPr id="16" name="TextBox 15"/>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17" name="TextBox 16"/>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BUDGET INTELLIGENCE</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Over budget? Priced fixes — never a dead end</a:t>
            </a:r>
          </a:p>
        </p:txBody>
      </p:sp>
      <p:sp>
        <p:nvSpPr>
          <p:cNvPr id="4" name="Rounded Rectangle 3"/>
          <p:cNvSpPr/>
          <p:nvPr/>
        </p:nvSpPr>
        <p:spPr>
          <a:xfrm>
            <a:off x="7253935" y="1618488"/>
            <a:ext cx="4428481" cy="4709160"/>
          </a:xfrm>
          <a:prstGeom prst="roundRect">
            <a:avLst>
              <a:gd name="adj" fmla="val 2000"/>
            </a:avLst>
          </a:prstGeom>
          <a:solidFill>
            <a:srgbClr val="E1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budget.png"/>
          <p:cNvPicPr>
            <a:picLocks noChangeAspect="1"/>
          </p:cNvPicPr>
          <p:nvPr/>
        </p:nvPicPr>
        <p:blipFill>
          <a:blip r:embed="rId2"/>
          <a:stretch>
            <a:fillRect/>
          </a:stretch>
        </p:blipFill>
        <p:spPr>
          <a:xfrm>
            <a:off x="7208215" y="1554480"/>
            <a:ext cx="4428481" cy="4709160"/>
          </a:xfrm>
          <a:prstGeom prst="rect">
            <a:avLst/>
          </a:prstGeom>
          <a:ln w="12700">
            <a:solidFill>
              <a:srgbClr val="DCE3EE"/>
            </a:solidFill>
          </a:ln>
        </p:spPr>
      </p:pic>
      <p:sp>
        <p:nvSpPr>
          <p:cNvPr id="6" name="Rounded Rectangle 5"/>
          <p:cNvSpPr/>
          <p:nvPr/>
        </p:nvSpPr>
        <p:spPr>
          <a:xfrm>
            <a:off x="548640" y="1600200"/>
            <a:ext cx="6202375" cy="10241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74519"/>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74519"/>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1</a:t>
            </a:r>
          </a:p>
        </p:txBody>
      </p:sp>
      <p:sp>
        <p:nvSpPr>
          <p:cNvPr id="9" name="TextBox 8"/>
          <p:cNvSpPr txBox="1"/>
          <p:nvPr/>
        </p:nvSpPr>
        <p:spPr>
          <a:xfrm>
            <a:off x="1417319" y="1728216"/>
            <a:ext cx="5150815" cy="320040"/>
          </a:xfrm>
          <a:prstGeom prst="rect">
            <a:avLst/>
          </a:prstGeom>
          <a:noFill/>
        </p:spPr>
        <p:txBody>
          <a:bodyPr wrap="square" anchor="t" lIns="0" rIns="0" tIns="0" bIns="0">
            <a:spAutoFit/>
          </a:bodyPr>
          <a:lstStyle/>
          <a:p>
            <a:pPr algn="l">
              <a:lnSpc>
                <a:spcPct val="115000"/>
              </a:lnSpc>
            </a:pPr>
            <a:r>
              <a:rPr sz="1600" b="1">
                <a:solidFill>
                  <a:srgbClr val="6D28D9"/>
                </a:solidFill>
                <a:latin typeface="Calibri"/>
              </a:rPr>
              <a:t>Fit my budget automatically</a:t>
            </a:r>
          </a:p>
        </p:txBody>
      </p:sp>
      <p:sp>
        <p:nvSpPr>
          <p:cNvPr id="10" name="TextBox 9"/>
          <p:cNvSpPr txBox="1"/>
          <p:nvPr/>
        </p:nvSpPr>
        <p:spPr>
          <a:xfrm>
            <a:off x="1417319" y="2057400"/>
            <a:ext cx="5150815" cy="548640"/>
          </a:xfrm>
          <a:prstGeom prst="rect">
            <a:avLst/>
          </a:prstGeom>
          <a:noFill/>
        </p:spPr>
        <p:txBody>
          <a:bodyPr wrap="square" anchor="t" lIns="0" rIns="0" tIns="0" bIns="0">
            <a:spAutoFit/>
          </a:bodyPr>
          <a:lstStyle/>
          <a:p>
            <a:pPr algn="l">
              <a:lnSpc>
                <a:spcPct val="112000"/>
              </a:lnSpc>
            </a:pPr>
            <a:r>
              <a:rPr sz="1200" b="0">
                <a:solidFill>
                  <a:srgbClr val="3F4C63"/>
                </a:solidFill>
                <a:latin typeface="Calibri"/>
              </a:rPr>
              <a:t>The fewest cuts that get under the cap — here a cheaper stay + activity: ₹21,354 → ₹15,772 on a ₹16,000 budget.</a:t>
            </a:r>
          </a:p>
        </p:txBody>
      </p:sp>
      <p:sp>
        <p:nvSpPr>
          <p:cNvPr id="11" name="Rounded Rectangle 10"/>
          <p:cNvSpPr/>
          <p:nvPr/>
        </p:nvSpPr>
        <p:spPr>
          <a:xfrm>
            <a:off x="548640" y="2761488"/>
            <a:ext cx="6202375" cy="10241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9808" y="3035808"/>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035808"/>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2</a:t>
            </a:r>
          </a:p>
        </p:txBody>
      </p:sp>
      <p:sp>
        <p:nvSpPr>
          <p:cNvPr id="14" name="TextBox 13"/>
          <p:cNvSpPr txBox="1"/>
          <p:nvPr/>
        </p:nvSpPr>
        <p:spPr>
          <a:xfrm>
            <a:off x="1417319" y="2889504"/>
            <a:ext cx="5150815"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Every option priced on the whole plan</a:t>
            </a:r>
          </a:p>
        </p:txBody>
      </p:sp>
      <p:sp>
        <p:nvSpPr>
          <p:cNvPr id="15" name="TextBox 14"/>
          <p:cNvSpPr txBox="1"/>
          <p:nvPr/>
        </p:nvSpPr>
        <p:spPr>
          <a:xfrm>
            <a:off x="1417319" y="3218688"/>
            <a:ext cx="5150815" cy="548640"/>
          </a:xfrm>
          <a:prstGeom prst="rect">
            <a:avLst/>
          </a:prstGeom>
          <a:noFill/>
        </p:spPr>
        <p:txBody>
          <a:bodyPr wrap="square" anchor="t" lIns="0" rIns="0" tIns="0" bIns="0">
            <a:spAutoFit/>
          </a:bodyPr>
          <a:lstStyle/>
          <a:p>
            <a:pPr algn="l">
              <a:lnSpc>
                <a:spcPct val="112000"/>
              </a:lnSpc>
            </a:pPr>
            <a:r>
              <a:rPr sz="1200" b="0">
                <a:solidFill>
                  <a:srgbClr val="3F4C63"/>
                </a:solidFill>
                <a:latin typeface="Calibri"/>
              </a:rPr>
              <a:t>Cheaper flight, stay, activity or transfer, drop an add-on or guide, one day shorter: saves, new total, still over by.</a:t>
            </a:r>
          </a:p>
        </p:txBody>
      </p:sp>
      <p:sp>
        <p:nvSpPr>
          <p:cNvPr id="16" name="Rounded Rectangle 15"/>
          <p:cNvSpPr/>
          <p:nvPr/>
        </p:nvSpPr>
        <p:spPr>
          <a:xfrm>
            <a:off x="548640" y="3922776"/>
            <a:ext cx="6202375" cy="10241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9808" y="4197096"/>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197096"/>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3</a:t>
            </a:r>
          </a:p>
        </p:txBody>
      </p:sp>
      <p:sp>
        <p:nvSpPr>
          <p:cNvPr id="19" name="TextBox 18"/>
          <p:cNvSpPr txBox="1"/>
          <p:nvPr/>
        </p:nvSpPr>
        <p:spPr>
          <a:xfrm>
            <a:off x="1417319" y="4050791"/>
            <a:ext cx="5150815"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An honest minimum</a:t>
            </a:r>
          </a:p>
        </p:txBody>
      </p:sp>
      <p:sp>
        <p:nvSpPr>
          <p:cNvPr id="20" name="TextBox 19"/>
          <p:cNvSpPr txBox="1"/>
          <p:nvPr/>
        </p:nvSpPr>
        <p:spPr>
          <a:xfrm>
            <a:off x="1417319" y="4379976"/>
            <a:ext cx="5150815" cy="548640"/>
          </a:xfrm>
          <a:prstGeom prst="rect">
            <a:avLst/>
          </a:prstGeom>
          <a:noFill/>
        </p:spPr>
        <p:txBody>
          <a:bodyPr wrap="square" anchor="t" lIns="0" rIns="0" tIns="0" bIns="0">
            <a:spAutoFit/>
          </a:bodyPr>
          <a:lstStyle/>
          <a:p>
            <a:pPr algn="l">
              <a:lnSpc>
                <a:spcPct val="112000"/>
              </a:lnSpc>
            </a:pPr>
            <a:r>
              <a:rPr sz="1200" b="0">
                <a:solidFill>
                  <a:srgbClr val="3F4C63"/>
                </a:solidFill>
                <a:latin typeface="Calibri"/>
              </a:rPr>
              <a:t>When nothing fits: 'the lowest this trip can go is ₹X' and one tap that sets the budget and applies the cuts.</a:t>
            </a:r>
          </a:p>
        </p:txBody>
      </p:sp>
      <p:sp>
        <p:nvSpPr>
          <p:cNvPr id="21" name="Rounded Rectangle 20"/>
          <p:cNvSpPr/>
          <p:nvPr/>
        </p:nvSpPr>
        <p:spPr>
          <a:xfrm>
            <a:off x="548640" y="5084064"/>
            <a:ext cx="6202375" cy="10241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5358384"/>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358384"/>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4</a:t>
            </a:r>
          </a:p>
        </p:txBody>
      </p:sp>
      <p:sp>
        <p:nvSpPr>
          <p:cNvPr id="24" name="TextBox 23"/>
          <p:cNvSpPr txBox="1"/>
          <p:nvPr/>
        </p:nvSpPr>
        <p:spPr>
          <a:xfrm>
            <a:off x="1417319" y="5212080"/>
            <a:ext cx="5150815" cy="320040"/>
          </a:xfrm>
          <a:prstGeom prst="rect">
            <a:avLst/>
          </a:prstGeom>
          <a:noFill/>
        </p:spPr>
        <p:txBody>
          <a:bodyPr wrap="square" anchor="t" lIns="0" rIns="0" tIns="0" bIns="0">
            <a:spAutoFit/>
          </a:bodyPr>
          <a:lstStyle/>
          <a:p>
            <a:pPr algn="l">
              <a:lnSpc>
                <a:spcPct val="115000"/>
              </a:lnSpc>
            </a:pPr>
            <a:r>
              <a:rPr sz="1600" b="1">
                <a:solidFill>
                  <a:srgbClr val="0B1F3A"/>
                </a:solidFill>
                <a:latin typeface="Calibri"/>
              </a:rPr>
              <a:t>Keep customising after approving</a:t>
            </a:r>
          </a:p>
        </p:txBody>
      </p:sp>
      <p:sp>
        <p:nvSpPr>
          <p:cNvPr id="25" name="TextBox 24"/>
          <p:cNvSpPr txBox="1"/>
          <p:nvPr/>
        </p:nvSpPr>
        <p:spPr>
          <a:xfrm>
            <a:off x="1417319" y="5541264"/>
            <a:ext cx="5150815" cy="548640"/>
          </a:xfrm>
          <a:prstGeom prst="rect">
            <a:avLst/>
          </a:prstGeom>
          <a:noFill/>
        </p:spPr>
        <p:txBody>
          <a:bodyPr wrap="square" anchor="t" lIns="0" rIns="0" tIns="0" bIns="0">
            <a:spAutoFit/>
          </a:bodyPr>
          <a:lstStyle/>
          <a:p>
            <a:pPr algn="l">
              <a:lnSpc>
                <a:spcPct val="112000"/>
              </a:lnSpc>
            </a:pPr>
            <a:r>
              <a:rPr sz="1200" b="0">
                <a:solidFill>
                  <a:srgbClr val="3F4C63"/>
                </a:solidFill>
                <a:latin typeface="Calibri"/>
              </a:rPr>
              <a:t>Changes that don't raise the total apply at once; dearer ones ask only for the new extra.</a:t>
            </a:r>
          </a:p>
        </p:txBody>
      </p:sp>
      <p:sp>
        <p:nvSpPr>
          <p:cNvPr id="26" name="TextBox 25"/>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27" name="TextBox 26"/>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DEMO</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From search to booked trip in six steps</a:t>
            </a:r>
          </a:p>
        </p:txBody>
      </p:sp>
      <p:sp>
        <p:nvSpPr>
          <p:cNvPr id="4" name="Rounded Rectangle 3"/>
          <p:cNvSpPr/>
          <p:nvPr/>
        </p:nvSpPr>
        <p:spPr>
          <a:xfrm>
            <a:off x="548640" y="1554480"/>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55648"/>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55648"/>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1</a:t>
            </a:r>
          </a:p>
        </p:txBody>
      </p:sp>
      <p:sp>
        <p:nvSpPr>
          <p:cNvPr id="7" name="TextBox 6"/>
          <p:cNvSpPr txBox="1"/>
          <p:nvPr/>
        </p:nvSpPr>
        <p:spPr>
          <a:xfrm>
            <a:off x="1417319" y="1810512"/>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Try the live demo</a:t>
            </a:r>
          </a:p>
        </p:txBody>
      </p:sp>
      <p:sp>
        <p:nvSpPr>
          <p:cNvPr id="8" name="TextBox 7"/>
          <p:cNvSpPr txBox="1"/>
          <p:nvPr/>
        </p:nvSpPr>
        <p:spPr>
          <a:xfrm>
            <a:off x="777240" y="2331720"/>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Delhi → Thanjavur, 4 travellers, Tamil guide, ₹1,50,000 — live estimate: low · typical · high.</a:t>
            </a:r>
          </a:p>
        </p:txBody>
      </p:sp>
      <p:sp>
        <p:nvSpPr>
          <p:cNvPr id="9" name="Rounded Rectangle 8"/>
          <p:cNvSpPr/>
          <p:nvPr/>
        </p:nvSpPr>
        <p:spPr>
          <a:xfrm>
            <a:off x="4338218" y="1554480"/>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66818" y="1755648"/>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1755648"/>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2</a:t>
            </a:r>
          </a:p>
        </p:txBody>
      </p:sp>
      <p:sp>
        <p:nvSpPr>
          <p:cNvPr id="12" name="TextBox 11"/>
          <p:cNvSpPr txBox="1"/>
          <p:nvPr/>
        </p:nvSpPr>
        <p:spPr>
          <a:xfrm>
            <a:off x="5206898" y="1810512"/>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Pick a live flight</a:t>
            </a:r>
          </a:p>
        </p:txBody>
      </p:sp>
      <p:sp>
        <p:nvSpPr>
          <p:cNvPr id="13" name="TextBox 12"/>
          <p:cNvSpPr txBox="1"/>
          <p:nvPr/>
        </p:nvSpPr>
        <p:spPr>
          <a:xfrm>
            <a:off x="4566818" y="2331720"/>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Google Flights fares via SerpAPI; the package loads with its itinerary.</a:t>
            </a:r>
          </a:p>
        </p:txBody>
      </p:sp>
      <p:sp>
        <p:nvSpPr>
          <p:cNvPr id="14" name="Rounded Rectangle 13"/>
          <p:cNvSpPr/>
          <p:nvPr/>
        </p:nvSpPr>
        <p:spPr>
          <a:xfrm>
            <a:off x="8127796" y="1554480"/>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56396" y="1755648"/>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396" y="1755648"/>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3</a:t>
            </a:r>
          </a:p>
        </p:txBody>
      </p:sp>
      <p:sp>
        <p:nvSpPr>
          <p:cNvPr id="17" name="TextBox 16"/>
          <p:cNvSpPr txBox="1"/>
          <p:nvPr/>
        </p:nvSpPr>
        <p:spPr>
          <a:xfrm>
            <a:off x="8996476" y="1810512"/>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Customise</a:t>
            </a:r>
          </a:p>
        </p:txBody>
      </p:sp>
      <p:sp>
        <p:nvSpPr>
          <p:cNvPr id="18" name="TextBox 17"/>
          <p:cNvSpPr txBox="1"/>
          <p:nvPr/>
        </p:nvSpPr>
        <p:spPr>
          <a:xfrm>
            <a:off x="8356396" y="2331720"/>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Swap the hotel or an activity, add an extra, change the days — the total updates on every change.</a:t>
            </a:r>
          </a:p>
        </p:txBody>
      </p:sp>
      <p:sp>
        <p:nvSpPr>
          <p:cNvPr id="19" name="Rounded Rectangle 18"/>
          <p:cNvSpPr/>
          <p:nvPr/>
        </p:nvSpPr>
        <p:spPr>
          <a:xfrm>
            <a:off x="548640" y="3264408"/>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3465576"/>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465576"/>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4</a:t>
            </a:r>
          </a:p>
        </p:txBody>
      </p:sp>
      <p:sp>
        <p:nvSpPr>
          <p:cNvPr id="22" name="TextBox 21"/>
          <p:cNvSpPr txBox="1"/>
          <p:nvPr/>
        </p:nvSpPr>
        <p:spPr>
          <a:xfrm>
            <a:off x="1417319" y="3520440"/>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Add a guide</a:t>
            </a:r>
          </a:p>
        </p:txBody>
      </p:sp>
      <p:sp>
        <p:nvSpPr>
          <p:cNvPr id="23" name="TextBox 22"/>
          <p:cNvSpPr txBox="1"/>
          <p:nvPr/>
        </p:nvSpPr>
        <p:spPr>
          <a:xfrm>
            <a:off x="777240" y="4041648"/>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Meera Novak is refused on 28 Sept; Arjun Nair is offered with the new total.</a:t>
            </a:r>
          </a:p>
        </p:txBody>
      </p:sp>
      <p:sp>
        <p:nvSpPr>
          <p:cNvPr id="24" name="Rounded Rectangle 23"/>
          <p:cNvSpPr/>
          <p:nvPr/>
        </p:nvSpPr>
        <p:spPr>
          <a:xfrm>
            <a:off x="4338218" y="3264408"/>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66818" y="3465576"/>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6818" y="3465576"/>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5</a:t>
            </a:r>
          </a:p>
        </p:txBody>
      </p:sp>
      <p:sp>
        <p:nvSpPr>
          <p:cNvPr id="27" name="TextBox 26"/>
          <p:cNvSpPr txBox="1"/>
          <p:nvPr/>
        </p:nvSpPr>
        <p:spPr>
          <a:xfrm>
            <a:off x="5206898" y="3520440"/>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Stay in budget</a:t>
            </a:r>
          </a:p>
        </p:txBody>
      </p:sp>
      <p:sp>
        <p:nvSpPr>
          <p:cNvPr id="28" name="TextBox 27"/>
          <p:cNvSpPr txBox="1"/>
          <p:nvPr/>
        </p:nvSpPr>
        <p:spPr>
          <a:xfrm>
            <a:off x="4566818" y="4041648"/>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Over budget? Priced fixes, or 'fit my budget automatically' in one tap.</a:t>
            </a:r>
          </a:p>
        </p:txBody>
      </p:sp>
      <p:sp>
        <p:nvSpPr>
          <p:cNvPr id="29" name="Rounded Rectangle 28"/>
          <p:cNvSpPr/>
          <p:nvPr/>
        </p:nvSpPr>
        <p:spPr>
          <a:xfrm>
            <a:off x="8127796" y="3264408"/>
            <a:ext cx="3515258" cy="1481328"/>
          </a:xfrm>
          <a:prstGeom prst="roundRect">
            <a:avLst>
              <a:gd name="adj" fmla="val 8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56396" y="3465576"/>
            <a:ext cx="457200" cy="457200"/>
          </a:xfrm>
          <a:prstGeom prst="ellipse">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56396" y="3465576"/>
            <a:ext cx="457200" cy="457200"/>
          </a:xfrm>
          <a:prstGeom prst="rect">
            <a:avLst/>
          </a:prstGeom>
          <a:noFill/>
        </p:spPr>
        <p:txBody>
          <a:bodyPr wrap="square" anchor="ctr" lIns="0" rIns="0" tIns="0" bIns="0">
            <a:spAutoFit/>
          </a:bodyPr>
          <a:lstStyle/>
          <a:p>
            <a:pPr algn="ctr">
              <a:lnSpc>
                <a:spcPct val="115000"/>
              </a:lnSpc>
            </a:pPr>
            <a:r>
              <a:rPr sz="1500" b="1">
                <a:solidFill>
                  <a:srgbClr val="F4F7FB"/>
                </a:solidFill>
                <a:latin typeface="Calibri"/>
              </a:rPr>
              <a:t>6</a:t>
            </a:r>
          </a:p>
        </p:txBody>
      </p:sp>
      <p:sp>
        <p:nvSpPr>
          <p:cNvPr id="32" name="TextBox 31"/>
          <p:cNvSpPr txBox="1"/>
          <p:nvPr/>
        </p:nvSpPr>
        <p:spPr>
          <a:xfrm>
            <a:off x="8996476" y="3520440"/>
            <a:ext cx="2417978" cy="411480"/>
          </a:xfrm>
          <a:prstGeom prst="rect">
            <a:avLst/>
          </a:prstGeom>
          <a:noFill/>
        </p:spPr>
        <p:txBody>
          <a:bodyPr wrap="square" anchor="t" lIns="0" rIns="0" tIns="0" bIns="0">
            <a:spAutoFit/>
          </a:bodyPr>
          <a:lstStyle/>
          <a:p>
            <a:pPr algn="l">
              <a:lnSpc>
                <a:spcPct val="115000"/>
              </a:lnSpc>
            </a:pPr>
            <a:r>
              <a:rPr sz="1700" b="1">
                <a:solidFill>
                  <a:srgbClr val="0B1F3A"/>
                </a:solidFill>
                <a:latin typeface="Calibri"/>
              </a:rPr>
              <a:t>Confirm &amp; share</a:t>
            </a:r>
          </a:p>
        </p:txBody>
      </p:sp>
      <p:sp>
        <p:nvSpPr>
          <p:cNvPr id="33" name="TextBox 32"/>
          <p:cNvSpPr txBox="1"/>
          <p:nvPr/>
        </p:nvSpPr>
        <p:spPr>
          <a:xfrm>
            <a:off x="8356396" y="4041648"/>
            <a:ext cx="3058058" cy="685800"/>
          </a:xfrm>
          <a:prstGeom prst="rect">
            <a:avLst/>
          </a:prstGeom>
          <a:noFill/>
        </p:spPr>
        <p:txBody>
          <a:bodyPr wrap="square" anchor="t" lIns="0" rIns="0" tIns="0" bIns="0">
            <a:spAutoFit/>
          </a:bodyPr>
          <a:lstStyle/>
          <a:p>
            <a:pPr algn="l">
              <a:lnSpc>
                <a:spcPct val="115000"/>
              </a:lnSpc>
            </a:pPr>
            <a:r>
              <a:rPr sz="1200" b="0">
                <a:solidFill>
                  <a:srgbClr val="3F4C63"/>
                </a:solidFill>
                <a:latin typeface="Calibri"/>
              </a:rPr>
              <a:t>Booking reference, PDF quotation in 4 languages — and the same flow in Telegram.</a:t>
            </a:r>
          </a:p>
        </p:txBody>
      </p:sp>
      <p:sp>
        <p:nvSpPr>
          <p:cNvPr id="34" name="Rounded Rectangle 33"/>
          <p:cNvSpPr/>
          <p:nvPr/>
        </p:nvSpPr>
        <p:spPr>
          <a:xfrm>
            <a:off x="548640" y="5074920"/>
            <a:ext cx="3515258" cy="91440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175504"/>
            <a:ext cx="3058058" cy="274320"/>
          </a:xfrm>
          <a:prstGeom prst="rect">
            <a:avLst/>
          </a:prstGeom>
          <a:noFill/>
        </p:spPr>
        <p:txBody>
          <a:bodyPr wrap="square" anchor="t" lIns="0" rIns="0" tIns="0" bIns="0">
            <a:spAutoFit/>
          </a:bodyPr>
          <a:lstStyle/>
          <a:p>
            <a:pPr algn="l">
              <a:lnSpc>
                <a:spcPct val="115000"/>
              </a:lnSpc>
            </a:pPr>
            <a:r>
              <a:rPr sz="1100" b="1">
                <a:solidFill>
                  <a:srgbClr val="F59E5B"/>
                </a:solidFill>
                <a:latin typeface="Calibri"/>
              </a:rPr>
              <a:t>CODE · GITHUB</a:t>
            </a:r>
          </a:p>
        </p:txBody>
      </p:sp>
      <p:sp>
        <p:nvSpPr>
          <p:cNvPr id="36" name="TextBox 35"/>
          <p:cNvSpPr txBox="1"/>
          <p:nvPr/>
        </p:nvSpPr>
        <p:spPr>
          <a:xfrm>
            <a:off x="777240" y="5468112"/>
            <a:ext cx="3058058" cy="411480"/>
          </a:xfrm>
          <a:prstGeom prst="rect">
            <a:avLst/>
          </a:prstGeom>
          <a:noFill/>
        </p:spPr>
        <p:txBody>
          <a:bodyPr wrap="square" anchor="t" lIns="0" rIns="0" tIns="0" bIns="0">
            <a:spAutoFit/>
          </a:bodyPr>
          <a:lstStyle/>
          <a:p>
            <a:pPr algn="l">
              <a:lnSpc>
                <a:spcPct val="115000"/>
              </a:lnSpc>
            </a:pPr>
            <a:r>
              <a:rPr sz="1300" b="1">
                <a:solidFill>
                  <a:srgbClr val="F4F7FB"/>
                </a:solidFill>
                <a:latin typeface="Calibri"/>
                <a:hlinkClick r:id="rId2"/>
              </a:rPr>
              <a:t>kv-hack2026-rng-gods repository</a:t>
            </a:r>
          </a:p>
        </p:txBody>
      </p:sp>
      <p:sp>
        <p:nvSpPr>
          <p:cNvPr id="37" name="Rounded Rectangle 36"/>
          <p:cNvSpPr/>
          <p:nvPr/>
        </p:nvSpPr>
        <p:spPr>
          <a:xfrm>
            <a:off x="4338218" y="5074920"/>
            <a:ext cx="3515258" cy="91440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66818" y="5175504"/>
            <a:ext cx="3058058" cy="274320"/>
          </a:xfrm>
          <a:prstGeom prst="rect">
            <a:avLst/>
          </a:prstGeom>
          <a:noFill/>
        </p:spPr>
        <p:txBody>
          <a:bodyPr wrap="square" anchor="t" lIns="0" rIns="0" tIns="0" bIns="0">
            <a:spAutoFit/>
          </a:bodyPr>
          <a:lstStyle/>
          <a:p>
            <a:pPr algn="l">
              <a:lnSpc>
                <a:spcPct val="115000"/>
              </a:lnSpc>
            </a:pPr>
            <a:r>
              <a:rPr sz="1100" b="1">
                <a:solidFill>
                  <a:srgbClr val="F59E5B"/>
                </a:solidFill>
                <a:latin typeface="Calibri"/>
              </a:rPr>
              <a:t>DECK, VIDEO &amp; DOCS</a:t>
            </a:r>
          </a:p>
        </p:txBody>
      </p:sp>
      <p:sp>
        <p:nvSpPr>
          <p:cNvPr id="39" name="TextBox 38"/>
          <p:cNvSpPr txBox="1"/>
          <p:nvPr/>
        </p:nvSpPr>
        <p:spPr>
          <a:xfrm>
            <a:off x="4566818" y="5468112"/>
            <a:ext cx="3058058" cy="411480"/>
          </a:xfrm>
          <a:prstGeom prst="rect">
            <a:avLst/>
          </a:prstGeom>
          <a:noFill/>
        </p:spPr>
        <p:txBody>
          <a:bodyPr wrap="square" anchor="t" lIns="0" rIns="0" tIns="0" bIns="0">
            <a:spAutoFit/>
          </a:bodyPr>
          <a:lstStyle/>
          <a:p>
            <a:pPr algn="l">
              <a:lnSpc>
                <a:spcPct val="115000"/>
              </a:lnSpc>
            </a:pPr>
            <a:r>
              <a:rPr sz="1300" b="1">
                <a:solidFill>
                  <a:srgbClr val="F4F7FB"/>
                </a:solidFill>
                <a:latin typeface="Calibri"/>
                <a:hlinkClick r:id="rId3"/>
              </a:rPr>
              <a:t>Google Drive folder</a:t>
            </a:r>
          </a:p>
        </p:txBody>
      </p:sp>
      <p:sp>
        <p:nvSpPr>
          <p:cNvPr id="40" name="Rounded Rectangle 39"/>
          <p:cNvSpPr/>
          <p:nvPr/>
        </p:nvSpPr>
        <p:spPr>
          <a:xfrm>
            <a:off x="8127796" y="5074920"/>
            <a:ext cx="3515258" cy="91440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56396" y="5175504"/>
            <a:ext cx="3058058" cy="274320"/>
          </a:xfrm>
          <a:prstGeom prst="rect">
            <a:avLst/>
          </a:prstGeom>
          <a:noFill/>
        </p:spPr>
        <p:txBody>
          <a:bodyPr wrap="square" anchor="t" lIns="0" rIns="0" tIns="0" bIns="0">
            <a:spAutoFit/>
          </a:bodyPr>
          <a:lstStyle/>
          <a:p>
            <a:pPr algn="l">
              <a:lnSpc>
                <a:spcPct val="115000"/>
              </a:lnSpc>
            </a:pPr>
            <a:r>
              <a:rPr sz="1100" b="1">
                <a:solidFill>
                  <a:srgbClr val="F59E5B"/>
                </a:solidFill>
                <a:latin typeface="Calibri"/>
              </a:rPr>
              <a:t>TELEGRAM BOT</a:t>
            </a:r>
          </a:p>
        </p:txBody>
      </p:sp>
      <p:sp>
        <p:nvSpPr>
          <p:cNvPr id="42" name="TextBox 41"/>
          <p:cNvSpPr txBox="1"/>
          <p:nvPr/>
        </p:nvSpPr>
        <p:spPr>
          <a:xfrm>
            <a:off x="8356396" y="5468112"/>
            <a:ext cx="3058058" cy="411480"/>
          </a:xfrm>
          <a:prstGeom prst="rect">
            <a:avLst/>
          </a:prstGeom>
          <a:noFill/>
        </p:spPr>
        <p:txBody>
          <a:bodyPr wrap="square" anchor="t" lIns="0" rIns="0" tIns="0" bIns="0">
            <a:spAutoFit/>
          </a:bodyPr>
          <a:lstStyle/>
          <a:p>
            <a:pPr algn="l">
              <a:lnSpc>
                <a:spcPct val="115000"/>
              </a:lnSpc>
            </a:pPr>
            <a:r>
              <a:rPr sz="1300" b="1">
                <a:solidFill>
                  <a:srgbClr val="F4F7FB"/>
                </a:solidFill>
                <a:latin typeface="Calibri"/>
                <a:hlinkClick r:id="rId4"/>
              </a:rPr>
              <a:t>@wayypoint_Bot → /demo</a:t>
            </a:r>
          </a:p>
        </p:txBody>
      </p:sp>
      <p:sp>
        <p:nvSpPr>
          <p:cNvPr id="43" name="TextBox 42"/>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44" name="TextBox 43"/>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6BC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PROOF</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F4F7FB"/>
                </a:solidFill>
                <a:latin typeface="Calibri"/>
              </a:rPr>
              <a:t>Backed by code, tests and the validator</a:t>
            </a:r>
          </a:p>
        </p:txBody>
      </p:sp>
      <p:sp>
        <p:nvSpPr>
          <p:cNvPr id="4" name="Rounded Rectangle 3"/>
          <p:cNvSpPr/>
          <p:nvPr/>
        </p:nvSpPr>
        <p:spPr>
          <a:xfrm>
            <a:off x="548640" y="1737360"/>
            <a:ext cx="2602153" cy="3291840"/>
          </a:xfrm>
          <a:prstGeom prst="roundRect">
            <a:avLst>
              <a:gd name="adj" fmla="val 8000"/>
            </a:avLst>
          </a:prstGeom>
          <a:solidFill>
            <a:srgbClr val="0A5AAD"/>
          </a:solidFill>
          <a:ln w="12700">
            <a:solidFill>
              <a:srgbClr val="3C8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2144953" cy="914400"/>
          </a:xfrm>
          <a:prstGeom prst="rect">
            <a:avLst/>
          </a:prstGeom>
          <a:noFill/>
        </p:spPr>
        <p:txBody>
          <a:bodyPr wrap="square" anchor="ctr" lIns="0" rIns="0" tIns="0" bIns="0">
            <a:spAutoFit/>
          </a:bodyPr>
          <a:lstStyle/>
          <a:p>
            <a:pPr algn="l">
              <a:lnSpc>
                <a:spcPct val="115000"/>
              </a:lnSpc>
            </a:pPr>
            <a:r>
              <a:rPr sz="4000" b="1">
                <a:solidFill>
                  <a:srgbClr val="F4F7FB"/>
                </a:solidFill>
                <a:latin typeface="Calibri"/>
              </a:rPr>
              <a:t>61</a:t>
            </a:r>
          </a:p>
        </p:txBody>
      </p:sp>
      <p:sp>
        <p:nvSpPr>
          <p:cNvPr id="6" name="TextBox 5"/>
          <p:cNvSpPr txBox="1"/>
          <p:nvPr/>
        </p:nvSpPr>
        <p:spPr>
          <a:xfrm>
            <a:off x="777240" y="2971800"/>
            <a:ext cx="2144953" cy="411480"/>
          </a:xfrm>
          <a:prstGeom prst="rect">
            <a:avLst/>
          </a:prstGeom>
          <a:noFill/>
        </p:spPr>
        <p:txBody>
          <a:bodyPr wrap="square" anchor="t" lIns="0" rIns="0" tIns="0" bIns="0">
            <a:spAutoFit/>
          </a:bodyPr>
          <a:lstStyle/>
          <a:p>
            <a:pPr algn="l">
              <a:lnSpc>
                <a:spcPct val="115000"/>
              </a:lnSpc>
            </a:pPr>
            <a:r>
              <a:rPr sz="1500" b="1">
                <a:solidFill>
                  <a:srgbClr val="FFE3CC"/>
                </a:solidFill>
                <a:latin typeface="Calibri"/>
              </a:rPr>
              <a:t>automated tests</a:t>
            </a:r>
          </a:p>
        </p:txBody>
      </p:sp>
      <p:sp>
        <p:nvSpPr>
          <p:cNvPr id="7" name="TextBox 6"/>
          <p:cNvSpPr txBox="1"/>
          <p:nvPr/>
        </p:nvSpPr>
        <p:spPr>
          <a:xfrm>
            <a:off x="777240" y="3429000"/>
            <a:ext cx="2144953" cy="1463040"/>
          </a:xfrm>
          <a:prstGeom prst="rect">
            <a:avLst/>
          </a:prstGeom>
          <a:noFill/>
        </p:spPr>
        <p:txBody>
          <a:bodyPr wrap="square" anchor="t" lIns="0" rIns="0" tIns="0" bIns="0">
            <a:spAutoFit/>
          </a:bodyPr>
          <a:lstStyle/>
          <a:p>
            <a:pPr algn="l">
              <a:lnSpc>
                <a:spcPct val="120000"/>
              </a:lnSpc>
            </a:pPr>
            <a:r>
              <a:rPr sz="1300" b="0">
                <a:solidFill>
                  <a:srgbClr val="E3EEFB"/>
                </a:solidFill>
                <a:latin typeface="Calibri"/>
              </a:rPr>
              <a:t>including the hard-proof guide test, concurrency and idempotent booking</a:t>
            </a:r>
          </a:p>
        </p:txBody>
      </p:sp>
      <p:sp>
        <p:nvSpPr>
          <p:cNvPr id="8" name="Rounded Rectangle 7"/>
          <p:cNvSpPr/>
          <p:nvPr/>
        </p:nvSpPr>
        <p:spPr>
          <a:xfrm>
            <a:off x="3379393" y="1737360"/>
            <a:ext cx="2602153" cy="3291840"/>
          </a:xfrm>
          <a:prstGeom prst="roundRect">
            <a:avLst>
              <a:gd name="adj" fmla="val 8000"/>
            </a:avLst>
          </a:prstGeom>
          <a:solidFill>
            <a:srgbClr val="0A5AAD"/>
          </a:solidFill>
          <a:ln w="12700">
            <a:solidFill>
              <a:srgbClr val="3C8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993" y="1965960"/>
            <a:ext cx="2144953" cy="914400"/>
          </a:xfrm>
          <a:prstGeom prst="rect">
            <a:avLst/>
          </a:prstGeom>
          <a:noFill/>
        </p:spPr>
        <p:txBody>
          <a:bodyPr wrap="square" anchor="ctr" lIns="0" rIns="0" tIns="0" bIns="0">
            <a:spAutoFit/>
          </a:bodyPr>
          <a:lstStyle/>
          <a:p>
            <a:pPr algn="l">
              <a:lnSpc>
                <a:spcPct val="115000"/>
              </a:lnSpc>
            </a:pPr>
            <a:r>
              <a:rPr sz="4000" b="1">
                <a:solidFill>
                  <a:srgbClr val="F4F7FB"/>
                </a:solidFill>
                <a:latin typeface="Calibri"/>
              </a:rPr>
              <a:t>PASS</a:t>
            </a:r>
          </a:p>
        </p:txBody>
      </p:sp>
      <p:sp>
        <p:nvSpPr>
          <p:cNvPr id="10" name="TextBox 9"/>
          <p:cNvSpPr txBox="1"/>
          <p:nvPr/>
        </p:nvSpPr>
        <p:spPr>
          <a:xfrm>
            <a:off x="3607993" y="2971800"/>
            <a:ext cx="2144953" cy="411480"/>
          </a:xfrm>
          <a:prstGeom prst="rect">
            <a:avLst/>
          </a:prstGeom>
          <a:noFill/>
        </p:spPr>
        <p:txBody>
          <a:bodyPr wrap="square" anchor="t" lIns="0" rIns="0" tIns="0" bIns="0">
            <a:spAutoFit/>
          </a:bodyPr>
          <a:lstStyle/>
          <a:p>
            <a:pPr algn="l">
              <a:lnSpc>
                <a:spcPct val="115000"/>
              </a:lnSpc>
            </a:pPr>
            <a:r>
              <a:rPr sz="1500" b="1">
                <a:solidFill>
                  <a:srgbClr val="FFE3CC"/>
                </a:solidFill>
                <a:latin typeface="Calibri"/>
              </a:rPr>
              <a:t>organisers' validator</a:t>
            </a:r>
          </a:p>
        </p:txBody>
      </p:sp>
      <p:sp>
        <p:nvSpPr>
          <p:cNvPr id="11" name="TextBox 10"/>
          <p:cNvSpPr txBox="1"/>
          <p:nvPr/>
        </p:nvSpPr>
        <p:spPr>
          <a:xfrm>
            <a:off x="3607993" y="3429000"/>
            <a:ext cx="2144953" cy="1463040"/>
          </a:xfrm>
          <a:prstGeom prst="rect">
            <a:avLst/>
          </a:prstGeom>
          <a:noFill/>
        </p:spPr>
        <p:txBody>
          <a:bodyPr wrap="square" anchor="t" lIns="0" rIns="0" tIns="0" bIns="0">
            <a:spAutoFit/>
          </a:bodyPr>
          <a:lstStyle/>
          <a:p>
            <a:pPr algn="l">
              <a:lnSpc>
                <a:spcPct val="120000"/>
              </a:lnSpc>
            </a:pPr>
            <a:r>
              <a:rPr sz="1300" b="0">
                <a:solidFill>
                  <a:srgbClr val="E3EEFB"/>
                </a:solidFill>
                <a:latin typeface="Calibri"/>
              </a:rPr>
              <a:t>our canonical rows merged with PS-04 pass validate_conformance.py</a:t>
            </a:r>
          </a:p>
        </p:txBody>
      </p:sp>
      <p:sp>
        <p:nvSpPr>
          <p:cNvPr id="12" name="Rounded Rectangle 11"/>
          <p:cNvSpPr/>
          <p:nvPr/>
        </p:nvSpPr>
        <p:spPr>
          <a:xfrm>
            <a:off x="6210147" y="1737360"/>
            <a:ext cx="2602153" cy="3291840"/>
          </a:xfrm>
          <a:prstGeom prst="roundRect">
            <a:avLst>
              <a:gd name="adj" fmla="val 8000"/>
            </a:avLst>
          </a:prstGeom>
          <a:solidFill>
            <a:srgbClr val="0A5AAD"/>
          </a:solidFill>
          <a:ln w="12700">
            <a:solidFill>
              <a:srgbClr val="3C8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747" y="1965960"/>
            <a:ext cx="2144953" cy="914400"/>
          </a:xfrm>
          <a:prstGeom prst="rect">
            <a:avLst/>
          </a:prstGeom>
          <a:noFill/>
        </p:spPr>
        <p:txBody>
          <a:bodyPr wrap="square" anchor="ctr" lIns="0" rIns="0" tIns="0" bIns="0">
            <a:spAutoFit/>
          </a:bodyPr>
          <a:lstStyle/>
          <a:p>
            <a:pPr algn="l">
              <a:lnSpc>
                <a:spcPct val="115000"/>
              </a:lnSpc>
            </a:pPr>
            <a:r>
              <a:rPr sz="4000" b="1">
                <a:solidFill>
                  <a:srgbClr val="F4F7FB"/>
                </a:solidFill>
                <a:latin typeface="Calibri"/>
              </a:rPr>
              <a:t>120</a:t>
            </a:r>
          </a:p>
        </p:txBody>
      </p:sp>
      <p:sp>
        <p:nvSpPr>
          <p:cNvPr id="14" name="TextBox 13"/>
          <p:cNvSpPr txBox="1"/>
          <p:nvPr/>
        </p:nvSpPr>
        <p:spPr>
          <a:xfrm>
            <a:off x="6438747" y="2971800"/>
            <a:ext cx="2144953" cy="411480"/>
          </a:xfrm>
          <a:prstGeom prst="rect">
            <a:avLst/>
          </a:prstGeom>
          <a:noFill/>
        </p:spPr>
        <p:txBody>
          <a:bodyPr wrap="square" anchor="t" lIns="0" rIns="0" tIns="0" bIns="0">
            <a:spAutoFit/>
          </a:bodyPr>
          <a:lstStyle/>
          <a:p>
            <a:pPr algn="l">
              <a:lnSpc>
                <a:spcPct val="115000"/>
              </a:lnSpc>
            </a:pPr>
            <a:r>
              <a:rPr sz="1500" b="1">
                <a:solidFill>
                  <a:srgbClr val="FFE3CC"/>
                </a:solidFill>
                <a:latin typeface="Calibri"/>
              </a:rPr>
              <a:t>bookable guides</a:t>
            </a:r>
          </a:p>
        </p:txBody>
      </p:sp>
      <p:sp>
        <p:nvSpPr>
          <p:cNvPr id="15" name="TextBox 14"/>
          <p:cNvSpPr txBox="1"/>
          <p:nvPr/>
        </p:nvSpPr>
        <p:spPr>
          <a:xfrm>
            <a:off x="6438747" y="3429000"/>
            <a:ext cx="2144953" cy="1463040"/>
          </a:xfrm>
          <a:prstGeom prst="rect">
            <a:avLst/>
          </a:prstGeom>
          <a:noFill/>
        </p:spPr>
        <p:txBody>
          <a:bodyPr wrap="square" anchor="t" lIns="0" rIns="0" tIns="0" bIns="0">
            <a:spAutoFit/>
          </a:bodyPr>
          <a:lstStyle/>
          <a:p>
            <a:pPr algn="l">
              <a:lnSpc>
                <a:spcPct val="120000"/>
              </a:lnSpc>
            </a:pPr>
            <a:r>
              <a:rPr sz="1300" b="0">
                <a:solidFill>
                  <a:srgbClr val="E3EEFB"/>
                </a:solidFill>
                <a:latin typeface="Calibri"/>
              </a:rPr>
              <a:t>each with a 30-day calendar; plus 45 packages and 1,200 traveller profiles from PS-04</a:t>
            </a:r>
          </a:p>
        </p:txBody>
      </p:sp>
      <p:sp>
        <p:nvSpPr>
          <p:cNvPr id="16" name="Rounded Rectangle 15"/>
          <p:cNvSpPr/>
          <p:nvPr/>
        </p:nvSpPr>
        <p:spPr>
          <a:xfrm>
            <a:off x="9040901" y="1737360"/>
            <a:ext cx="2602153" cy="3291840"/>
          </a:xfrm>
          <a:prstGeom prst="roundRect">
            <a:avLst>
              <a:gd name="adj" fmla="val 8000"/>
            </a:avLst>
          </a:prstGeom>
          <a:solidFill>
            <a:srgbClr val="0A5AAD"/>
          </a:solidFill>
          <a:ln w="12700">
            <a:solidFill>
              <a:srgbClr val="3C8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9501" y="1965960"/>
            <a:ext cx="2144953" cy="914400"/>
          </a:xfrm>
          <a:prstGeom prst="rect">
            <a:avLst/>
          </a:prstGeom>
          <a:noFill/>
        </p:spPr>
        <p:txBody>
          <a:bodyPr wrap="square" anchor="ctr" lIns="0" rIns="0" tIns="0" bIns="0">
            <a:spAutoFit/>
          </a:bodyPr>
          <a:lstStyle/>
          <a:p>
            <a:pPr algn="l">
              <a:lnSpc>
                <a:spcPct val="115000"/>
              </a:lnSpc>
            </a:pPr>
            <a:r>
              <a:rPr sz="4000" b="1">
                <a:solidFill>
                  <a:srgbClr val="F4F7FB"/>
                </a:solidFill>
                <a:latin typeface="Calibri"/>
              </a:rPr>
              <a:t>4 · 2</a:t>
            </a:r>
          </a:p>
        </p:txBody>
      </p:sp>
      <p:sp>
        <p:nvSpPr>
          <p:cNvPr id="18" name="TextBox 17"/>
          <p:cNvSpPr txBox="1"/>
          <p:nvPr/>
        </p:nvSpPr>
        <p:spPr>
          <a:xfrm>
            <a:off x="9269501" y="2971800"/>
            <a:ext cx="2144953" cy="411480"/>
          </a:xfrm>
          <a:prstGeom prst="rect">
            <a:avLst/>
          </a:prstGeom>
          <a:noFill/>
        </p:spPr>
        <p:txBody>
          <a:bodyPr wrap="square" anchor="t" lIns="0" rIns="0" tIns="0" bIns="0">
            <a:spAutoFit/>
          </a:bodyPr>
          <a:lstStyle/>
          <a:p>
            <a:pPr algn="l">
              <a:lnSpc>
                <a:spcPct val="115000"/>
              </a:lnSpc>
            </a:pPr>
            <a:r>
              <a:rPr sz="1500" b="1">
                <a:solidFill>
                  <a:srgbClr val="FFE3CC"/>
                </a:solidFill>
                <a:latin typeface="Calibri"/>
              </a:rPr>
              <a:t>languages · channels</a:t>
            </a:r>
          </a:p>
        </p:txBody>
      </p:sp>
      <p:sp>
        <p:nvSpPr>
          <p:cNvPr id="19" name="TextBox 18"/>
          <p:cNvSpPr txBox="1"/>
          <p:nvPr/>
        </p:nvSpPr>
        <p:spPr>
          <a:xfrm>
            <a:off x="9269501" y="3429000"/>
            <a:ext cx="2144953" cy="1463040"/>
          </a:xfrm>
          <a:prstGeom prst="rect">
            <a:avLst/>
          </a:prstGeom>
          <a:noFill/>
        </p:spPr>
        <p:txBody>
          <a:bodyPr wrap="square" anchor="t" lIns="0" rIns="0" tIns="0" bIns="0">
            <a:spAutoFit/>
          </a:bodyPr>
          <a:lstStyle/>
          <a:p>
            <a:pPr algn="l">
              <a:lnSpc>
                <a:spcPct val="120000"/>
              </a:lnSpc>
            </a:pPr>
            <a:r>
              <a:rPr sz="1300" b="0">
                <a:solidFill>
                  <a:srgbClr val="E3EEFB"/>
                </a:solidFill>
                <a:latin typeface="Calibri"/>
              </a:rPr>
              <a:t>English, Hindi, Tamil, Telugu on web and Telegram</a:t>
            </a:r>
          </a:p>
        </p:txBody>
      </p:sp>
      <p:sp>
        <p:nvSpPr>
          <p:cNvPr id="20" name="TextBox 19"/>
          <p:cNvSpPr txBox="1"/>
          <p:nvPr/>
        </p:nvSpPr>
        <p:spPr>
          <a:xfrm>
            <a:off x="548640" y="5349240"/>
            <a:ext cx="11094415" cy="548640"/>
          </a:xfrm>
          <a:prstGeom prst="rect">
            <a:avLst/>
          </a:prstGeom>
          <a:noFill/>
        </p:spPr>
        <p:txBody>
          <a:bodyPr wrap="square" anchor="t" lIns="0" rIns="0" tIns="0" bIns="0">
            <a:spAutoFit/>
          </a:bodyPr>
          <a:lstStyle/>
          <a:p>
            <a:pPr algn="l">
              <a:lnSpc>
                <a:spcPct val="115000"/>
              </a:lnSpc>
            </a:pPr>
            <a:r>
              <a:rPr sz="1400" b="0">
                <a:solidFill>
                  <a:srgbClr val="F4F7FB"/>
                </a:solidFill>
                <a:latin typeface="Calibri"/>
              </a:rPr>
              <a:t>Boundary rules live in the backend: group size, BCP-47 languages, INR only, guide capacity. Money is integer paise; itinerary lines add up to the total to the paisa.</a:t>
            </a:r>
          </a:p>
        </p:txBody>
      </p:sp>
      <p:sp>
        <p:nvSpPr>
          <p:cNvPr id="21" name="TextBox 20"/>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BFD0E6"/>
                </a:solidFill>
                <a:latin typeface="Calibri"/>
              </a:rPr>
              <a:t>PackagePro · PS-04 Dynamic Tour Packages · Team RNG Gods</a:t>
            </a:r>
          </a:p>
        </p:txBody>
      </p:sp>
      <p:sp>
        <p:nvSpPr>
          <p:cNvPr id="22" name="TextBox 21"/>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BFD0E6"/>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0B6BCB"/>
                </a:solidFill>
                <a:latin typeface="Calibri"/>
              </a:rPr>
              <a:t>IMPACT &amp; BENEFITS</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0B1F3A"/>
                </a:solidFill>
                <a:latin typeface="Calibri"/>
              </a:rPr>
              <a:t>Better for travellers, guides and tour operators</a:t>
            </a:r>
          </a:p>
        </p:txBody>
      </p:sp>
      <p:sp>
        <p:nvSpPr>
          <p:cNvPr id="4" name="Rounded Rectangle 3"/>
          <p:cNvSpPr/>
          <p:nvPr/>
        </p:nvSpPr>
        <p:spPr>
          <a:xfrm>
            <a:off x="548640" y="1600200"/>
            <a:ext cx="3515258" cy="4206240"/>
          </a:xfrm>
          <a:prstGeom prst="roundRect">
            <a:avLst>
              <a:gd name="adj" fmla="val 3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00200"/>
            <a:ext cx="3515258" cy="82296"/>
          </a:xfrm>
          <a:prstGeom prst="rect">
            <a:avLst/>
          </a:prstGeom>
          <a:solidFill>
            <a:srgbClr val="0B6B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74519"/>
            <a:ext cx="2966618" cy="457200"/>
          </a:xfrm>
          <a:prstGeom prst="rect">
            <a:avLst/>
          </a:prstGeom>
          <a:noFill/>
        </p:spPr>
        <p:txBody>
          <a:bodyPr wrap="square" anchor="t" lIns="0" rIns="0" tIns="0" bIns="0">
            <a:spAutoFit/>
          </a:bodyPr>
          <a:lstStyle/>
          <a:p>
            <a:pPr algn="l">
              <a:lnSpc>
                <a:spcPct val="115000"/>
              </a:lnSpc>
            </a:pPr>
            <a:r>
              <a:rPr sz="2200" b="1">
                <a:solidFill>
                  <a:srgbClr val="0B1F3A"/>
                </a:solidFill>
                <a:latin typeface="Calibri"/>
              </a:rPr>
              <a:t>Travellers</a:t>
            </a:r>
          </a:p>
        </p:txBody>
      </p:sp>
      <p:sp>
        <p:nvSpPr>
          <p:cNvPr id="7" name="TextBox 6"/>
          <p:cNvSpPr txBox="1"/>
          <p:nvPr/>
        </p:nvSpPr>
        <p:spPr>
          <a:xfrm>
            <a:off x="822959" y="2514600"/>
            <a:ext cx="2966618" cy="3108960"/>
          </a:xfrm>
          <a:prstGeom prst="rect">
            <a:avLst/>
          </a:prstGeom>
          <a:noFill/>
        </p:spPr>
        <p:txBody>
          <a:bodyPr wrap="square" anchor="t" lIns="0" rIns="0" tIns="0" bIns="0">
            <a:spAutoFit/>
          </a:bodyPr>
          <a:lstStyle/>
          <a:p>
            <a:pPr algn="l">
              <a:lnSpc>
                <a:spcPct val="130000"/>
              </a:lnSpc>
            </a:pPr>
            <a:r>
              <a:rPr sz="1500" b="1">
                <a:solidFill>
                  <a:srgbClr val="0B6BCB"/>
                </a:solidFill>
                <a:latin typeface="Calibri"/>
              </a:rPr>
              <a:t>•  </a:t>
            </a:r>
            <a:r>
              <a:rPr sz="1500" b="0">
                <a:solidFill>
                  <a:srgbClr val="3F4C63"/>
                </a:solidFill>
                <a:latin typeface="Calibri"/>
              </a:rPr>
              <a:t>Build the trip they want, in their language</a:t>
            </a:r>
          </a:p>
          <a:p>
            <a:pPr algn="l">
              <a:lnSpc>
                <a:spcPct val="130000"/>
              </a:lnSpc>
            </a:pPr>
            <a:r>
              <a:rPr sz="1500" b="1">
                <a:solidFill>
                  <a:srgbClr val="0B6BCB"/>
                </a:solidFill>
                <a:latin typeface="Calibri"/>
              </a:rPr>
              <a:t>•  </a:t>
            </a:r>
            <a:r>
              <a:rPr sz="1500" b="0">
                <a:solidFill>
                  <a:srgbClr val="3F4C63"/>
                </a:solidFill>
                <a:latin typeface="Calibri"/>
              </a:rPr>
              <a:t>See every line of the price</a:t>
            </a:r>
          </a:p>
          <a:p>
            <a:pPr algn="l">
              <a:lnSpc>
                <a:spcPct val="130000"/>
              </a:lnSpc>
            </a:pPr>
            <a:r>
              <a:rPr sz="1500" b="1">
                <a:solidFill>
                  <a:srgbClr val="0B6BCB"/>
                </a:solidFill>
                <a:latin typeface="Calibri"/>
              </a:rPr>
              <a:t>•  </a:t>
            </a:r>
            <a:r>
              <a:rPr sz="1500" b="0">
                <a:solidFill>
                  <a:srgbClr val="3F4C63"/>
                </a:solidFill>
                <a:latin typeface="Calibri"/>
              </a:rPr>
              <a:t>Never booked with a guide who isn't free</a:t>
            </a:r>
          </a:p>
          <a:p>
            <a:pPr algn="l">
              <a:lnSpc>
                <a:spcPct val="130000"/>
              </a:lnSpc>
            </a:pPr>
            <a:r>
              <a:rPr sz="1500" b="1">
                <a:solidFill>
                  <a:srgbClr val="0B6BCB"/>
                </a:solidFill>
                <a:latin typeface="Calibri"/>
              </a:rPr>
              <a:t>•  </a:t>
            </a:r>
            <a:r>
              <a:rPr sz="1500" b="0">
                <a:solidFill>
                  <a:srgbClr val="3F4C63"/>
                </a:solidFill>
                <a:latin typeface="Calibri"/>
              </a:rPr>
              <a:t>Stay in budget with one-tap fixes</a:t>
            </a:r>
          </a:p>
        </p:txBody>
      </p:sp>
      <p:sp>
        <p:nvSpPr>
          <p:cNvPr id="8" name="Rounded Rectangle 7"/>
          <p:cNvSpPr/>
          <p:nvPr/>
        </p:nvSpPr>
        <p:spPr>
          <a:xfrm>
            <a:off x="4338218" y="1600200"/>
            <a:ext cx="3515258" cy="4206240"/>
          </a:xfrm>
          <a:prstGeom prst="roundRect">
            <a:avLst>
              <a:gd name="adj" fmla="val 3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38218" y="1600200"/>
            <a:ext cx="3515258" cy="82296"/>
          </a:xfrm>
          <a:prstGeom prst="rect">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2538" y="1874519"/>
            <a:ext cx="2966618" cy="457200"/>
          </a:xfrm>
          <a:prstGeom prst="rect">
            <a:avLst/>
          </a:prstGeom>
          <a:noFill/>
        </p:spPr>
        <p:txBody>
          <a:bodyPr wrap="square" anchor="t" lIns="0" rIns="0" tIns="0" bIns="0">
            <a:spAutoFit/>
          </a:bodyPr>
          <a:lstStyle/>
          <a:p>
            <a:pPr algn="l">
              <a:lnSpc>
                <a:spcPct val="115000"/>
              </a:lnSpc>
            </a:pPr>
            <a:r>
              <a:rPr sz="2200" b="1">
                <a:solidFill>
                  <a:srgbClr val="0B1F3A"/>
                </a:solidFill>
                <a:latin typeface="Calibri"/>
              </a:rPr>
              <a:t>Local guides</a:t>
            </a:r>
          </a:p>
        </p:txBody>
      </p:sp>
      <p:sp>
        <p:nvSpPr>
          <p:cNvPr id="11" name="TextBox 10"/>
          <p:cNvSpPr txBox="1"/>
          <p:nvPr/>
        </p:nvSpPr>
        <p:spPr>
          <a:xfrm>
            <a:off x="4612538" y="2514600"/>
            <a:ext cx="2966618" cy="3108960"/>
          </a:xfrm>
          <a:prstGeom prst="rect">
            <a:avLst/>
          </a:prstGeom>
          <a:noFill/>
        </p:spPr>
        <p:txBody>
          <a:bodyPr wrap="square" anchor="t" lIns="0" rIns="0" tIns="0" bIns="0">
            <a:spAutoFit/>
          </a:bodyPr>
          <a:lstStyle/>
          <a:p>
            <a:pPr algn="l">
              <a:lnSpc>
                <a:spcPct val="130000"/>
              </a:lnSpc>
            </a:pPr>
            <a:r>
              <a:rPr sz="1500" b="1">
                <a:solidFill>
                  <a:srgbClr val="C2410C"/>
                </a:solidFill>
                <a:latin typeface="Calibri"/>
              </a:rPr>
              <a:t>•  </a:t>
            </a:r>
            <a:r>
              <a:rPr sz="1500" b="0">
                <a:solidFill>
                  <a:srgbClr val="3F4C63"/>
                </a:solidFill>
                <a:latin typeface="Calibri"/>
              </a:rPr>
              <a:t>Bookings respect real availability and slots</a:t>
            </a:r>
          </a:p>
          <a:p>
            <a:pPr algn="l">
              <a:lnSpc>
                <a:spcPct val="130000"/>
              </a:lnSpc>
            </a:pPr>
            <a:r>
              <a:rPr sz="1500" b="1">
                <a:solidFill>
                  <a:srgbClr val="C2410C"/>
                </a:solidFill>
                <a:latin typeface="Calibri"/>
              </a:rPr>
              <a:t>•  </a:t>
            </a:r>
            <a:r>
              <a:rPr sz="1500" b="0">
                <a:solidFill>
                  <a:srgbClr val="3F4C63"/>
                </a:solidFill>
                <a:latin typeface="Calibri"/>
              </a:rPr>
              <a:t>Matched on language and specialisation</a:t>
            </a:r>
          </a:p>
          <a:p>
            <a:pPr algn="l">
              <a:lnSpc>
                <a:spcPct val="130000"/>
              </a:lnSpc>
            </a:pPr>
            <a:r>
              <a:rPr sz="1500" b="1">
                <a:solidFill>
                  <a:srgbClr val="C2410C"/>
                </a:solidFill>
                <a:latin typeface="Calibri"/>
              </a:rPr>
              <a:t>•  </a:t>
            </a:r>
            <a:r>
              <a:rPr sz="1500" b="0">
                <a:solidFill>
                  <a:srgbClr val="3F4C63"/>
                </a:solidFill>
                <a:latin typeface="Calibri"/>
              </a:rPr>
              <a:t>Nearby guides get offered as substitutes</a:t>
            </a:r>
          </a:p>
          <a:p>
            <a:pPr algn="l">
              <a:lnSpc>
                <a:spcPct val="130000"/>
              </a:lnSpc>
            </a:pPr>
            <a:r>
              <a:rPr sz="1500" b="1">
                <a:solidFill>
                  <a:srgbClr val="C2410C"/>
                </a:solidFill>
                <a:latin typeface="Calibri"/>
              </a:rPr>
              <a:t>•  </a:t>
            </a:r>
            <a:r>
              <a:rPr sz="1500" b="0">
                <a:solidFill>
                  <a:srgbClr val="3F4C63"/>
                </a:solidFill>
                <a:latin typeface="Calibri"/>
              </a:rPr>
              <a:t>Paid per day at each date's rate</a:t>
            </a:r>
          </a:p>
        </p:txBody>
      </p:sp>
      <p:sp>
        <p:nvSpPr>
          <p:cNvPr id="12" name="Rounded Rectangle 11"/>
          <p:cNvSpPr/>
          <p:nvPr/>
        </p:nvSpPr>
        <p:spPr>
          <a:xfrm>
            <a:off x="8127796" y="1600200"/>
            <a:ext cx="3515258" cy="4206240"/>
          </a:xfrm>
          <a:prstGeom prst="roundRect">
            <a:avLst>
              <a:gd name="adj" fmla="val 3000"/>
            </a:avLst>
          </a:prstGeom>
          <a:solidFill>
            <a:srgbClr val="FBFCFE"/>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27796" y="1600200"/>
            <a:ext cx="3515258" cy="82296"/>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02116" y="1874519"/>
            <a:ext cx="2966618" cy="457200"/>
          </a:xfrm>
          <a:prstGeom prst="rect">
            <a:avLst/>
          </a:prstGeom>
          <a:noFill/>
        </p:spPr>
        <p:txBody>
          <a:bodyPr wrap="square" anchor="t" lIns="0" rIns="0" tIns="0" bIns="0">
            <a:spAutoFit/>
          </a:bodyPr>
          <a:lstStyle/>
          <a:p>
            <a:pPr algn="l">
              <a:lnSpc>
                <a:spcPct val="115000"/>
              </a:lnSpc>
            </a:pPr>
            <a:r>
              <a:rPr sz="2200" b="1">
                <a:solidFill>
                  <a:srgbClr val="0B1F3A"/>
                </a:solidFill>
                <a:latin typeface="Calibri"/>
              </a:rPr>
              <a:t>Tour operators</a:t>
            </a:r>
          </a:p>
        </p:txBody>
      </p:sp>
      <p:sp>
        <p:nvSpPr>
          <p:cNvPr id="15" name="TextBox 14"/>
          <p:cNvSpPr txBox="1"/>
          <p:nvPr/>
        </p:nvSpPr>
        <p:spPr>
          <a:xfrm>
            <a:off x="8402116" y="2514600"/>
            <a:ext cx="2966618" cy="3108960"/>
          </a:xfrm>
          <a:prstGeom prst="rect">
            <a:avLst/>
          </a:prstGeom>
          <a:noFill/>
        </p:spPr>
        <p:txBody>
          <a:bodyPr wrap="square" anchor="t" lIns="0" rIns="0" tIns="0" bIns="0">
            <a:spAutoFit/>
          </a:bodyPr>
          <a:lstStyle/>
          <a:p>
            <a:pPr algn="l">
              <a:lnSpc>
                <a:spcPct val="130000"/>
              </a:lnSpc>
            </a:pPr>
            <a:r>
              <a:rPr sz="1500" b="1">
                <a:solidFill>
                  <a:srgbClr val="0E8A5F"/>
                </a:solidFill>
                <a:latin typeface="Calibri"/>
              </a:rPr>
              <a:t>•  </a:t>
            </a:r>
            <a:r>
              <a:rPr sz="1500" b="0">
                <a:solidFill>
                  <a:srgbClr val="3F4C63"/>
                </a:solidFill>
                <a:latin typeface="Calibri"/>
              </a:rPr>
              <a:t>Fewer manual re-quotes and call-backs</a:t>
            </a:r>
          </a:p>
          <a:p>
            <a:pPr algn="l">
              <a:lnSpc>
                <a:spcPct val="130000"/>
              </a:lnSpc>
            </a:pPr>
            <a:r>
              <a:rPr sz="1500" b="1">
                <a:solidFill>
                  <a:srgbClr val="0E8A5F"/>
                </a:solidFill>
                <a:latin typeface="Calibri"/>
              </a:rPr>
              <a:t>•  </a:t>
            </a:r>
            <a:r>
              <a:rPr sz="1500" b="0">
                <a:solidFill>
                  <a:srgbClr val="3F4C63"/>
                </a:solidFill>
                <a:latin typeface="Calibri"/>
              </a:rPr>
              <a:t>No double-booked guides</a:t>
            </a:r>
          </a:p>
          <a:p>
            <a:pPr algn="l">
              <a:lnSpc>
                <a:spcPct val="130000"/>
              </a:lnSpc>
            </a:pPr>
            <a:r>
              <a:rPr sz="1500" b="1">
                <a:solidFill>
                  <a:srgbClr val="0E8A5F"/>
                </a:solidFill>
                <a:latin typeface="Calibri"/>
              </a:rPr>
              <a:t>•  </a:t>
            </a:r>
            <a:r>
              <a:rPr sz="1500" b="0">
                <a:solidFill>
                  <a:srgbClr val="3F4C63"/>
                </a:solidFill>
                <a:latin typeface="Calibri"/>
              </a:rPr>
              <a:t>Upsell with upgrades that still fit</a:t>
            </a:r>
          </a:p>
          <a:p>
            <a:pPr algn="l">
              <a:lnSpc>
                <a:spcPct val="130000"/>
              </a:lnSpc>
            </a:pPr>
            <a:r>
              <a:rPr sz="1500" b="1">
                <a:solidFill>
                  <a:srgbClr val="0E8A5F"/>
                </a:solidFill>
                <a:latin typeface="Calibri"/>
              </a:rPr>
              <a:t>•  </a:t>
            </a:r>
            <a:r>
              <a:rPr sz="1500" b="0">
                <a:solidFill>
                  <a:srgbClr val="3F4C63"/>
                </a:solidFill>
                <a:latin typeface="Calibri"/>
              </a:rPr>
              <a:t>One engine for web and chat</a:t>
            </a:r>
          </a:p>
        </p:txBody>
      </p:sp>
      <p:sp>
        <p:nvSpPr>
          <p:cNvPr id="16" name="TextBox 15"/>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6A7689"/>
                </a:solidFill>
                <a:latin typeface="Calibri"/>
              </a:rPr>
              <a:t>PackagePro · PS-04 Dynamic Tour Packages · Team RNG Gods</a:t>
            </a:r>
          </a:p>
        </p:txBody>
      </p:sp>
      <p:sp>
        <p:nvSpPr>
          <p:cNvPr id="17" name="TextBox 16"/>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6A7689"/>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457200"/>
            <a:ext cx="11094415" cy="27432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BUSINESS MODEL &amp; SCALING</a:t>
            </a:r>
          </a:p>
        </p:txBody>
      </p:sp>
      <p:sp>
        <p:nvSpPr>
          <p:cNvPr id="3" name="TextBox 2"/>
          <p:cNvSpPr txBox="1"/>
          <p:nvPr/>
        </p:nvSpPr>
        <p:spPr>
          <a:xfrm>
            <a:off x="548640" y="749808"/>
            <a:ext cx="11094415" cy="640080"/>
          </a:xfrm>
          <a:prstGeom prst="rect">
            <a:avLst/>
          </a:prstGeom>
          <a:noFill/>
        </p:spPr>
        <p:txBody>
          <a:bodyPr wrap="square" anchor="t" lIns="0" rIns="0" tIns="0" bIns="0">
            <a:spAutoFit/>
          </a:bodyPr>
          <a:lstStyle/>
          <a:p>
            <a:pPr algn="l">
              <a:lnSpc>
                <a:spcPct val="115000"/>
              </a:lnSpc>
            </a:pPr>
            <a:r>
              <a:rPr sz="3000" b="1">
                <a:solidFill>
                  <a:srgbClr val="F4F7FB"/>
                </a:solidFill>
                <a:latin typeface="Calibri"/>
              </a:rPr>
              <a:t>How PackagePro earns — and grows beyond one city</a:t>
            </a:r>
          </a:p>
        </p:txBody>
      </p:sp>
      <p:sp>
        <p:nvSpPr>
          <p:cNvPr id="4" name="TextBox 3"/>
          <p:cNvSpPr txBox="1"/>
          <p:nvPr/>
        </p:nvSpPr>
        <p:spPr>
          <a:xfrm>
            <a:off x="548640" y="1554480"/>
            <a:ext cx="5303520" cy="32004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REVENUE</a:t>
            </a:r>
          </a:p>
        </p:txBody>
      </p:sp>
      <p:sp>
        <p:nvSpPr>
          <p:cNvPr id="5" name="Rounded Rectangle 4"/>
          <p:cNvSpPr/>
          <p:nvPr/>
        </p:nvSpPr>
        <p:spPr>
          <a:xfrm>
            <a:off x="548640" y="1901952"/>
            <a:ext cx="5394960"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84248"/>
            <a:ext cx="4937760" cy="320040"/>
          </a:xfrm>
          <a:prstGeom prst="rect">
            <a:avLst/>
          </a:prstGeom>
          <a:noFill/>
        </p:spPr>
        <p:txBody>
          <a:bodyPr wrap="square" anchor="t" lIns="0" rIns="0" tIns="0" bIns="0">
            <a:spAutoFit/>
          </a:bodyPr>
          <a:lstStyle/>
          <a:p>
            <a:pPr algn="l">
              <a:lnSpc>
                <a:spcPct val="115000"/>
              </a:lnSpc>
            </a:pPr>
            <a:r>
              <a:rPr sz="1600" b="1">
                <a:solidFill>
                  <a:srgbClr val="F4F7FB"/>
                </a:solidFill>
                <a:latin typeface="Calibri"/>
              </a:rPr>
              <a:t>Booking commission</a:t>
            </a:r>
          </a:p>
        </p:txBody>
      </p:sp>
      <p:sp>
        <p:nvSpPr>
          <p:cNvPr id="7" name="TextBox 6"/>
          <p:cNvSpPr txBox="1"/>
          <p:nvPr/>
        </p:nvSpPr>
        <p:spPr>
          <a:xfrm>
            <a:off x="777240" y="2322576"/>
            <a:ext cx="4937760" cy="320040"/>
          </a:xfrm>
          <a:prstGeom prst="rect">
            <a:avLst/>
          </a:prstGeom>
          <a:noFill/>
        </p:spPr>
        <p:txBody>
          <a:bodyPr wrap="square" anchor="t" lIns="0" rIns="0" tIns="0" bIns="0">
            <a:spAutoFit/>
          </a:bodyPr>
          <a:lstStyle/>
          <a:p>
            <a:pPr algn="l">
              <a:lnSpc>
                <a:spcPct val="115000"/>
              </a:lnSpc>
            </a:pPr>
            <a:r>
              <a:rPr sz="1200" b="0">
                <a:solidFill>
                  <a:srgbClr val="BFD0E6"/>
                </a:solidFill>
                <a:latin typeface="Calibri"/>
              </a:rPr>
              <a:t>[__%] of each confirmed package</a:t>
            </a:r>
          </a:p>
        </p:txBody>
      </p:sp>
      <p:sp>
        <p:nvSpPr>
          <p:cNvPr id="8" name="Rounded Rectangle 7"/>
          <p:cNvSpPr/>
          <p:nvPr/>
        </p:nvSpPr>
        <p:spPr>
          <a:xfrm>
            <a:off x="548640" y="2798064"/>
            <a:ext cx="5394960"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937760" cy="320040"/>
          </a:xfrm>
          <a:prstGeom prst="rect">
            <a:avLst/>
          </a:prstGeom>
          <a:noFill/>
        </p:spPr>
        <p:txBody>
          <a:bodyPr wrap="square" anchor="t" lIns="0" rIns="0" tIns="0" bIns="0">
            <a:spAutoFit/>
          </a:bodyPr>
          <a:lstStyle/>
          <a:p>
            <a:pPr algn="l">
              <a:lnSpc>
                <a:spcPct val="115000"/>
              </a:lnSpc>
            </a:pPr>
            <a:r>
              <a:rPr sz="1600" b="1">
                <a:solidFill>
                  <a:srgbClr val="F4F7FB"/>
                </a:solidFill>
                <a:latin typeface="Calibri"/>
              </a:rPr>
              <a:t>Guide marketplace fee</a:t>
            </a:r>
          </a:p>
        </p:txBody>
      </p:sp>
      <p:sp>
        <p:nvSpPr>
          <p:cNvPr id="10" name="TextBox 9"/>
          <p:cNvSpPr txBox="1"/>
          <p:nvPr/>
        </p:nvSpPr>
        <p:spPr>
          <a:xfrm>
            <a:off x="777240" y="3218688"/>
            <a:ext cx="4937760" cy="320040"/>
          </a:xfrm>
          <a:prstGeom prst="rect">
            <a:avLst/>
          </a:prstGeom>
          <a:noFill/>
        </p:spPr>
        <p:txBody>
          <a:bodyPr wrap="square" anchor="t" lIns="0" rIns="0" tIns="0" bIns="0">
            <a:spAutoFit/>
          </a:bodyPr>
          <a:lstStyle/>
          <a:p>
            <a:pPr algn="l">
              <a:lnSpc>
                <a:spcPct val="115000"/>
              </a:lnSpc>
            </a:pPr>
            <a:r>
              <a:rPr sz="1200" b="0">
                <a:solidFill>
                  <a:srgbClr val="BFD0E6"/>
                </a:solidFill>
                <a:latin typeface="Calibri"/>
              </a:rPr>
              <a:t>[__%] per guide-day booked</a:t>
            </a:r>
          </a:p>
        </p:txBody>
      </p:sp>
      <p:sp>
        <p:nvSpPr>
          <p:cNvPr id="11" name="Rounded Rectangle 10"/>
          <p:cNvSpPr/>
          <p:nvPr/>
        </p:nvSpPr>
        <p:spPr>
          <a:xfrm>
            <a:off x="548640" y="3694176"/>
            <a:ext cx="5394960"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76472"/>
            <a:ext cx="4937760" cy="320040"/>
          </a:xfrm>
          <a:prstGeom prst="rect">
            <a:avLst/>
          </a:prstGeom>
          <a:noFill/>
        </p:spPr>
        <p:txBody>
          <a:bodyPr wrap="square" anchor="t" lIns="0" rIns="0" tIns="0" bIns="0">
            <a:spAutoFit/>
          </a:bodyPr>
          <a:lstStyle/>
          <a:p>
            <a:pPr algn="l">
              <a:lnSpc>
                <a:spcPct val="115000"/>
              </a:lnSpc>
            </a:pPr>
            <a:r>
              <a:rPr sz="1600" b="1">
                <a:solidFill>
                  <a:srgbClr val="F4F7FB"/>
                </a:solidFill>
                <a:latin typeface="Calibri"/>
              </a:rPr>
              <a:t>White-label for agencies</a:t>
            </a:r>
          </a:p>
        </p:txBody>
      </p:sp>
      <p:sp>
        <p:nvSpPr>
          <p:cNvPr id="13" name="TextBox 12"/>
          <p:cNvSpPr txBox="1"/>
          <p:nvPr/>
        </p:nvSpPr>
        <p:spPr>
          <a:xfrm>
            <a:off x="777240" y="4114800"/>
            <a:ext cx="4937760" cy="320040"/>
          </a:xfrm>
          <a:prstGeom prst="rect">
            <a:avLst/>
          </a:prstGeom>
          <a:noFill/>
        </p:spPr>
        <p:txBody>
          <a:bodyPr wrap="square" anchor="t" lIns="0" rIns="0" tIns="0" bIns="0">
            <a:spAutoFit/>
          </a:bodyPr>
          <a:lstStyle/>
          <a:p>
            <a:pPr algn="l">
              <a:lnSpc>
                <a:spcPct val="115000"/>
              </a:lnSpc>
            </a:pPr>
            <a:r>
              <a:rPr sz="1200" b="0">
                <a:solidFill>
                  <a:srgbClr val="BFD0E6"/>
                </a:solidFill>
                <a:latin typeface="Calibri"/>
              </a:rPr>
              <a:t>[₹__ / month] per agency, their brand and catalogue</a:t>
            </a:r>
          </a:p>
        </p:txBody>
      </p:sp>
      <p:sp>
        <p:nvSpPr>
          <p:cNvPr id="14" name="Rounded Rectangle 13"/>
          <p:cNvSpPr/>
          <p:nvPr/>
        </p:nvSpPr>
        <p:spPr>
          <a:xfrm>
            <a:off x="548640" y="4590288"/>
            <a:ext cx="5394960"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672583"/>
            <a:ext cx="4937760" cy="320040"/>
          </a:xfrm>
          <a:prstGeom prst="rect">
            <a:avLst/>
          </a:prstGeom>
          <a:noFill/>
        </p:spPr>
        <p:txBody>
          <a:bodyPr wrap="square" anchor="t" lIns="0" rIns="0" tIns="0" bIns="0">
            <a:spAutoFit/>
          </a:bodyPr>
          <a:lstStyle/>
          <a:p>
            <a:pPr algn="l">
              <a:lnSpc>
                <a:spcPct val="115000"/>
              </a:lnSpc>
            </a:pPr>
            <a:r>
              <a:rPr sz="1600" b="1">
                <a:solidFill>
                  <a:srgbClr val="F4F7FB"/>
                </a:solidFill>
                <a:latin typeface="Calibri"/>
              </a:rPr>
              <a:t>Upgrades &amp; add-ons</a:t>
            </a:r>
          </a:p>
        </p:txBody>
      </p:sp>
      <p:sp>
        <p:nvSpPr>
          <p:cNvPr id="16" name="TextBox 15"/>
          <p:cNvSpPr txBox="1"/>
          <p:nvPr/>
        </p:nvSpPr>
        <p:spPr>
          <a:xfrm>
            <a:off x="777240" y="5010912"/>
            <a:ext cx="4937760" cy="320040"/>
          </a:xfrm>
          <a:prstGeom prst="rect">
            <a:avLst/>
          </a:prstGeom>
          <a:noFill/>
        </p:spPr>
        <p:txBody>
          <a:bodyPr wrap="square" anchor="t" lIns="0" rIns="0" tIns="0" bIns="0">
            <a:spAutoFit/>
          </a:bodyPr>
          <a:lstStyle/>
          <a:p>
            <a:pPr algn="l">
              <a:lnSpc>
                <a:spcPct val="115000"/>
              </a:lnSpc>
            </a:pPr>
            <a:r>
              <a:rPr sz="1200" b="0">
                <a:solidFill>
                  <a:srgbClr val="BFD0E6"/>
                </a:solidFill>
                <a:latin typeface="Calibri"/>
              </a:rPr>
              <a:t>margin on recommended upgrades that fit the budget</a:t>
            </a:r>
          </a:p>
        </p:txBody>
      </p:sp>
      <p:sp>
        <p:nvSpPr>
          <p:cNvPr id="17" name="TextBox 16"/>
          <p:cNvSpPr txBox="1"/>
          <p:nvPr/>
        </p:nvSpPr>
        <p:spPr>
          <a:xfrm>
            <a:off x="6492240" y="1554480"/>
            <a:ext cx="5120640" cy="320040"/>
          </a:xfrm>
          <a:prstGeom prst="rect">
            <a:avLst/>
          </a:prstGeom>
          <a:noFill/>
        </p:spPr>
        <p:txBody>
          <a:bodyPr wrap="square" anchor="t" lIns="0" rIns="0" tIns="0" bIns="0">
            <a:spAutoFit/>
          </a:bodyPr>
          <a:lstStyle/>
          <a:p>
            <a:pPr algn="l">
              <a:lnSpc>
                <a:spcPct val="115000"/>
              </a:lnSpc>
            </a:pPr>
            <a:r>
              <a:rPr sz="1200" b="1">
                <a:solidFill>
                  <a:srgbClr val="F59E5B"/>
                </a:solidFill>
                <a:latin typeface="Calibri"/>
              </a:rPr>
              <a:t>SCALING PATH</a:t>
            </a:r>
          </a:p>
        </p:txBody>
      </p:sp>
      <p:sp>
        <p:nvSpPr>
          <p:cNvPr id="18" name="Rounded Rectangle 17"/>
          <p:cNvSpPr/>
          <p:nvPr/>
        </p:nvSpPr>
        <p:spPr>
          <a:xfrm>
            <a:off x="6492240" y="1901952"/>
            <a:ext cx="1097280" cy="786384"/>
          </a:xfrm>
          <a:prstGeom prst="roundRect">
            <a:avLst>
              <a:gd name="adj" fmla="val 8000"/>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901952"/>
            <a:ext cx="1097280" cy="786384"/>
          </a:xfrm>
          <a:prstGeom prst="rect">
            <a:avLst/>
          </a:prstGeom>
          <a:noFill/>
        </p:spPr>
        <p:txBody>
          <a:bodyPr wrap="square" anchor="ctr" lIns="0" rIns="0" tIns="0" bIns="0">
            <a:spAutoFit/>
          </a:bodyPr>
          <a:lstStyle/>
          <a:p>
            <a:pPr algn="ctr">
              <a:lnSpc>
                <a:spcPct val="115000"/>
              </a:lnSpc>
            </a:pPr>
            <a:r>
              <a:rPr sz="1400" b="1">
                <a:solidFill>
                  <a:srgbClr val="0B1F3A"/>
                </a:solidFill>
                <a:latin typeface="Calibri"/>
              </a:rPr>
              <a:t>Today</a:t>
            </a:r>
          </a:p>
        </p:txBody>
      </p:sp>
      <p:sp>
        <p:nvSpPr>
          <p:cNvPr id="20" name="Rounded Rectangle 19"/>
          <p:cNvSpPr/>
          <p:nvPr/>
        </p:nvSpPr>
        <p:spPr>
          <a:xfrm>
            <a:off x="7680960" y="1901952"/>
            <a:ext cx="3962095"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1901952"/>
            <a:ext cx="3596335" cy="786384"/>
          </a:xfrm>
          <a:prstGeom prst="rect">
            <a:avLst/>
          </a:prstGeom>
          <a:noFill/>
        </p:spPr>
        <p:txBody>
          <a:bodyPr wrap="square" anchor="ctr" lIns="0" rIns="0" tIns="0" bIns="0">
            <a:spAutoFit/>
          </a:bodyPr>
          <a:lstStyle/>
          <a:p>
            <a:pPr algn="l">
              <a:lnSpc>
                <a:spcPct val="115000"/>
              </a:lnSpc>
            </a:pPr>
            <a:r>
              <a:rPr sz="1300" b="0">
                <a:solidFill>
                  <a:srgbClr val="F4F7FB"/>
                </a:solidFill>
                <a:latin typeface="Calibri"/>
              </a:rPr>
              <a:t>One Railway service, SQLite, canonical tables, Telegram polling</a:t>
            </a:r>
          </a:p>
        </p:txBody>
      </p:sp>
      <p:sp>
        <p:nvSpPr>
          <p:cNvPr id="22" name="Rounded Rectangle 21"/>
          <p:cNvSpPr/>
          <p:nvPr/>
        </p:nvSpPr>
        <p:spPr>
          <a:xfrm>
            <a:off x="6492240" y="2798064"/>
            <a:ext cx="1097280" cy="786384"/>
          </a:xfrm>
          <a:prstGeom prst="roundRect">
            <a:avLst>
              <a:gd name="adj" fmla="val 8000"/>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798064"/>
            <a:ext cx="1097280" cy="786384"/>
          </a:xfrm>
          <a:prstGeom prst="rect">
            <a:avLst/>
          </a:prstGeom>
          <a:noFill/>
        </p:spPr>
        <p:txBody>
          <a:bodyPr wrap="square" anchor="ctr" lIns="0" rIns="0" tIns="0" bIns="0">
            <a:spAutoFit/>
          </a:bodyPr>
          <a:lstStyle/>
          <a:p>
            <a:pPr algn="ctr">
              <a:lnSpc>
                <a:spcPct val="115000"/>
              </a:lnSpc>
            </a:pPr>
            <a:r>
              <a:rPr sz="1400" b="1">
                <a:solidFill>
                  <a:srgbClr val="0B1F3A"/>
                </a:solidFill>
                <a:latin typeface="Calibri"/>
              </a:rPr>
              <a:t>Next</a:t>
            </a:r>
          </a:p>
        </p:txBody>
      </p:sp>
      <p:sp>
        <p:nvSpPr>
          <p:cNvPr id="24" name="Rounded Rectangle 23"/>
          <p:cNvSpPr/>
          <p:nvPr/>
        </p:nvSpPr>
        <p:spPr>
          <a:xfrm>
            <a:off x="7680960" y="2798064"/>
            <a:ext cx="3962095"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2798064"/>
            <a:ext cx="3596335" cy="786384"/>
          </a:xfrm>
          <a:prstGeom prst="rect">
            <a:avLst/>
          </a:prstGeom>
          <a:noFill/>
        </p:spPr>
        <p:txBody>
          <a:bodyPr wrap="square" anchor="ctr" lIns="0" rIns="0" tIns="0" bIns="0">
            <a:spAutoFit/>
          </a:bodyPr>
          <a:lstStyle/>
          <a:p>
            <a:pPr algn="l">
              <a:lnSpc>
                <a:spcPct val="115000"/>
              </a:lnSpc>
            </a:pPr>
            <a:r>
              <a:rPr sz="1300" b="0">
                <a:solidFill>
                  <a:srgbClr val="F4F7FB"/>
                </a:solidFill>
                <a:latin typeface="Calibri"/>
              </a:rPr>
              <a:t>Postgres with the same schema; stateless engine on several instances</a:t>
            </a:r>
          </a:p>
        </p:txBody>
      </p:sp>
      <p:sp>
        <p:nvSpPr>
          <p:cNvPr id="26" name="Rounded Rectangle 25"/>
          <p:cNvSpPr/>
          <p:nvPr/>
        </p:nvSpPr>
        <p:spPr>
          <a:xfrm>
            <a:off x="6492240" y="3694176"/>
            <a:ext cx="1097280" cy="786384"/>
          </a:xfrm>
          <a:prstGeom prst="roundRect">
            <a:avLst>
              <a:gd name="adj" fmla="val 8000"/>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694176"/>
            <a:ext cx="1097280" cy="786384"/>
          </a:xfrm>
          <a:prstGeom prst="rect">
            <a:avLst/>
          </a:prstGeom>
          <a:noFill/>
        </p:spPr>
        <p:txBody>
          <a:bodyPr wrap="square" anchor="ctr" lIns="0" rIns="0" tIns="0" bIns="0">
            <a:spAutoFit/>
          </a:bodyPr>
          <a:lstStyle/>
          <a:p>
            <a:pPr algn="ctr">
              <a:lnSpc>
                <a:spcPct val="115000"/>
              </a:lnSpc>
            </a:pPr>
            <a:r>
              <a:rPr sz="1400" b="1">
                <a:solidFill>
                  <a:srgbClr val="0B1F3A"/>
                </a:solidFill>
                <a:latin typeface="Calibri"/>
              </a:rPr>
              <a:t>Then</a:t>
            </a:r>
          </a:p>
        </p:txBody>
      </p:sp>
      <p:sp>
        <p:nvSpPr>
          <p:cNvPr id="28" name="Rounded Rectangle 27"/>
          <p:cNvSpPr/>
          <p:nvPr/>
        </p:nvSpPr>
        <p:spPr>
          <a:xfrm>
            <a:off x="7680960" y="3694176"/>
            <a:ext cx="3962095"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3694176"/>
            <a:ext cx="3596335" cy="786384"/>
          </a:xfrm>
          <a:prstGeom prst="rect">
            <a:avLst/>
          </a:prstGeom>
          <a:noFill/>
        </p:spPr>
        <p:txBody>
          <a:bodyPr wrap="square" anchor="ctr" lIns="0" rIns="0" tIns="0" bIns="0">
            <a:spAutoFit/>
          </a:bodyPr>
          <a:lstStyle/>
          <a:p>
            <a:pPr algn="l">
              <a:lnSpc>
                <a:spcPct val="115000"/>
              </a:lnSpc>
            </a:pPr>
            <a:r>
              <a:rPr sz="1300" b="0">
                <a:solidFill>
                  <a:srgbClr val="F4F7FB"/>
                </a:solidFill>
                <a:latin typeface="Calibri"/>
              </a:rPr>
              <a:t>Telegram webhook + WhatsApp; UPI payments and GST on the quotation</a:t>
            </a:r>
          </a:p>
        </p:txBody>
      </p:sp>
      <p:sp>
        <p:nvSpPr>
          <p:cNvPr id="30" name="Rounded Rectangle 29"/>
          <p:cNvSpPr/>
          <p:nvPr/>
        </p:nvSpPr>
        <p:spPr>
          <a:xfrm>
            <a:off x="6492240" y="4590288"/>
            <a:ext cx="1097280" cy="786384"/>
          </a:xfrm>
          <a:prstGeom prst="roundRect">
            <a:avLst>
              <a:gd name="adj" fmla="val 8000"/>
            </a:avLst>
          </a:prstGeom>
          <a:solidFill>
            <a:srgbClr val="F5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4590288"/>
            <a:ext cx="1097280" cy="786384"/>
          </a:xfrm>
          <a:prstGeom prst="rect">
            <a:avLst/>
          </a:prstGeom>
          <a:noFill/>
        </p:spPr>
        <p:txBody>
          <a:bodyPr wrap="square" anchor="ctr" lIns="0" rIns="0" tIns="0" bIns="0">
            <a:spAutoFit/>
          </a:bodyPr>
          <a:lstStyle/>
          <a:p>
            <a:pPr algn="ctr">
              <a:lnSpc>
                <a:spcPct val="115000"/>
              </a:lnSpc>
            </a:pPr>
            <a:r>
              <a:rPr sz="1400" b="1">
                <a:solidFill>
                  <a:srgbClr val="0B1F3A"/>
                </a:solidFill>
                <a:latin typeface="Calibri"/>
              </a:rPr>
              <a:t>Later</a:t>
            </a:r>
          </a:p>
        </p:txBody>
      </p:sp>
      <p:sp>
        <p:nvSpPr>
          <p:cNvPr id="32" name="Rounded Rectangle 31"/>
          <p:cNvSpPr/>
          <p:nvPr/>
        </p:nvSpPr>
        <p:spPr>
          <a:xfrm>
            <a:off x="7680960" y="4590288"/>
            <a:ext cx="3962095" cy="786384"/>
          </a:xfrm>
          <a:prstGeom prst="roundRect">
            <a:avLst>
              <a:gd name="adj" fmla="val 8000"/>
            </a:avLst>
          </a:prstGeom>
          <a:solidFill>
            <a:srgbClr val="13294A"/>
          </a:solidFill>
          <a:ln w="12700">
            <a:solidFill>
              <a:srgbClr val="224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4590288"/>
            <a:ext cx="3596335" cy="786384"/>
          </a:xfrm>
          <a:prstGeom prst="rect">
            <a:avLst/>
          </a:prstGeom>
          <a:noFill/>
        </p:spPr>
        <p:txBody>
          <a:bodyPr wrap="square" anchor="ctr" lIns="0" rIns="0" tIns="0" bIns="0">
            <a:spAutoFit/>
          </a:bodyPr>
          <a:lstStyle/>
          <a:p>
            <a:pPr algn="l">
              <a:lnSpc>
                <a:spcPct val="115000"/>
              </a:lnSpc>
            </a:pPr>
            <a:r>
              <a:rPr sz="1300" b="0">
                <a:solidFill>
                  <a:srgbClr val="F4F7FB"/>
                </a:solidFill>
                <a:latin typeface="Calibri"/>
              </a:rPr>
              <a:t>More cities, guides and partner inventory through the same engine</a:t>
            </a:r>
          </a:p>
        </p:txBody>
      </p:sp>
      <p:sp>
        <p:nvSpPr>
          <p:cNvPr id="34" name="TextBox 33"/>
          <p:cNvSpPr txBox="1"/>
          <p:nvPr/>
        </p:nvSpPr>
        <p:spPr>
          <a:xfrm>
            <a:off x="548640" y="5577840"/>
            <a:ext cx="11094415" cy="411480"/>
          </a:xfrm>
          <a:prstGeom prst="rect">
            <a:avLst/>
          </a:prstGeom>
          <a:noFill/>
        </p:spPr>
        <p:txBody>
          <a:bodyPr wrap="square" anchor="t" lIns="0" rIns="0" tIns="0" bIns="0">
            <a:spAutoFit/>
          </a:bodyPr>
          <a:lstStyle/>
          <a:p>
            <a:pPr algn="ctr">
              <a:lnSpc>
                <a:spcPct val="115000"/>
              </a:lnSpc>
            </a:pPr>
            <a:r>
              <a:rPr sz="2200" b="1">
                <a:solidFill>
                  <a:srgbClr val="F4F7FB"/>
                </a:solidFill>
                <a:latin typeface="Calibri"/>
              </a:rPr>
              <a:t>Thank you — questions?</a:t>
            </a:r>
          </a:p>
        </p:txBody>
      </p:sp>
      <p:sp>
        <p:nvSpPr>
          <p:cNvPr id="35" name="TextBox 34"/>
          <p:cNvSpPr txBox="1"/>
          <p:nvPr/>
        </p:nvSpPr>
        <p:spPr>
          <a:xfrm>
            <a:off x="548640" y="5989320"/>
            <a:ext cx="11094415" cy="274320"/>
          </a:xfrm>
          <a:prstGeom prst="rect">
            <a:avLst/>
          </a:prstGeom>
          <a:noFill/>
        </p:spPr>
        <p:txBody>
          <a:bodyPr wrap="square" anchor="t" lIns="0" rIns="0" tIns="0" bIns="0">
            <a:spAutoFit/>
          </a:bodyPr>
          <a:lstStyle/>
          <a:p>
            <a:pPr algn="ctr">
              <a:lnSpc>
                <a:spcPct val="115000"/>
              </a:lnSpc>
            </a:pPr>
            <a:r>
              <a:rPr sz="1200" b="1">
                <a:solidFill>
                  <a:srgbClr val="F59E5B"/>
                </a:solidFill>
                <a:latin typeface="Calibri"/>
                <a:hlinkClick r:id="rId2"/>
              </a:rPr>
              <a:t>Code</a:t>
            </a:r>
            <a:r>
              <a:rPr sz="1200" b="0">
                <a:solidFill>
                  <a:srgbClr val="BFD0E6"/>
                </a:solidFill>
                <a:latin typeface="Calibri"/>
              </a:rPr>
              <a:t>   ·   </a:t>
            </a:r>
            <a:r>
              <a:rPr sz="1200" b="1">
                <a:solidFill>
                  <a:srgbClr val="F59E5B"/>
                </a:solidFill>
                <a:latin typeface="Calibri"/>
                <a:hlinkClick r:id="rId3"/>
              </a:rPr>
              <a:t>Deck, video &amp; docs</a:t>
            </a:r>
            <a:r>
              <a:rPr sz="1200" b="0">
                <a:solidFill>
                  <a:srgbClr val="BFD0E6"/>
                </a:solidFill>
                <a:latin typeface="Calibri"/>
              </a:rPr>
              <a:t>   ·   </a:t>
            </a:r>
            <a:r>
              <a:rPr sz="1200" b="1">
                <a:solidFill>
                  <a:srgbClr val="F59E5B"/>
                </a:solidFill>
                <a:latin typeface="Calibri"/>
                <a:hlinkClick r:id="rId4"/>
              </a:rPr>
              <a:t>Telegram @wayypoint_Bot</a:t>
            </a:r>
          </a:p>
        </p:txBody>
      </p:sp>
      <p:sp>
        <p:nvSpPr>
          <p:cNvPr id="36" name="TextBox 35"/>
          <p:cNvSpPr txBox="1"/>
          <p:nvPr/>
        </p:nvSpPr>
        <p:spPr>
          <a:xfrm>
            <a:off x="548640" y="6446520"/>
            <a:ext cx="7315200" cy="228600"/>
          </a:xfrm>
          <a:prstGeom prst="rect">
            <a:avLst/>
          </a:prstGeom>
          <a:noFill/>
        </p:spPr>
        <p:txBody>
          <a:bodyPr wrap="square" anchor="t" lIns="0" rIns="0" tIns="0" bIns="0">
            <a:spAutoFit/>
          </a:bodyPr>
          <a:lstStyle/>
          <a:p>
            <a:pPr algn="l">
              <a:lnSpc>
                <a:spcPct val="115000"/>
              </a:lnSpc>
            </a:pPr>
            <a:r>
              <a:rPr sz="1000" b="0">
                <a:solidFill>
                  <a:srgbClr val="BFD0E6"/>
                </a:solidFill>
                <a:latin typeface="Calibri"/>
              </a:rPr>
              <a:t>PackagePro · PS-04 Dynamic Tour Packages · Team RNG Gods</a:t>
            </a:r>
          </a:p>
        </p:txBody>
      </p:sp>
      <p:sp>
        <p:nvSpPr>
          <p:cNvPr id="37" name="TextBox 36"/>
          <p:cNvSpPr txBox="1"/>
          <p:nvPr/>
        </p:nvSpPr>
        <p:spPr>
          <a:xfrm>
            <a:off x="10271455" y="6446520"/>
            <a:ext cx="1371600" cy="228600"/>
          </a:xfrm>
          <a:prstGeom prst="rect">
            <a:avLst/>
          </a:prstGeom>
          <a:noFill/>
        </p:spPr>
        <p:txBody>
          <a:bodyPr wrap="square" anchor="t" lIns="0" rIns="0" tIns="0" bIns="0">
            <a:spAutoFit/>
          </a:bodyPr>
          <a:lstStyle/>
          <a:p>
            <a:pPr algn="r">
              <a:lnSpc>
                <a:spcPct val="115000"/>
              </a:lnSpc>
            </a:pPr>
            <a:r>
              <a:rPr sz="1000" b="0">
                <a:solidFill>
                  <a:srgbClr val="BFD0E6"/>
                </a:solidFill>
                <a:latin typeface="Calibr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